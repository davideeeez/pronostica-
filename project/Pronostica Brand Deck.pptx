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 direzioni di identità visiva per Pronostica!, app di pronostici calcistici per il mercato italiano. Target: tifosi di Serie A, 18-45 anni.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Tribuna: interfaccia chiara, blu profondo per hero e classifica, giallo solo dove si agisce. La più vicina al riferimento con un lettering più morbido.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 Fila: cobalto come colore di marca, giallo limone come co-protagonista. Grottesca larga e numeri grossi, molto riconoscibile in home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Notturna: lo stadio alle 20:45. Fondo profondo, verde acido come luce dei riflettori, numeri enormi. La direzione più vicina al riferimento Fantamondiale.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Notturna Giorno: la stessa identità di 1a su superficie chiara, pensata come tema selezionabile dall'utente. Il blu passa da sfondo a inchiostro; il verde acido non diventa mai testo, resta solo in campiture con inchiostro scuro sopra.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Tabellino: la pagina sportiva. Carta, verde campo, un rosso da rotativa. Serietà della classifica prima del pathos: la direzione che invecchia meglio.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Diretta: grafica da broadcast. Fondo chiaro, blu di scena, magenta per il live. Dati leggibili in un secondo, vicina al linguaggio Sofascore.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Curva: il settore ospiti. Condensato tutto maiuscolo, arancio da stampa serigrafica, nero caldo. La più identitaria e la più divisiva.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sei direzioni una accanto all'altra: due famiglie blu-giallo vicine al riferimento, e quattro registri più distanti. Da qui si sceglie la direzione da portare in fase di design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438147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8F9DC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IDENTITÀ VISIVA · 2026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153382" y="1047750"/>
            <a:ext cx="219078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8F9DC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7 DIREZIONI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05510"/>
            <a:ext cx="15192375" cy="1510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459"/>
              </a:lnSpc>
              <a:buNone/>
            </a:pPr>
            <a:r>
              <a:rPr lang="en-US" sz="12600" b="1" spc="-441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Pronostica!</a:t>
            </a:r>
            <a:endParaRPr lang="en-US" sz="12600" dirty="0"/>
          </a:p>
        </p:txBody>
      </p:sp>
      <p:sp>
        <p:nvSpPr>
          <p:cNvPr id="5" name="Text 3"/>
          <p:cNvSpPr/>
          <p:nvPr/>
        </p:nvSpPr>
        <p:spPr>
          <a:xfrm>
            <a:off x="1143000" y="5401494"/>
            <a:ext cx="14225588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61"/>
              </a:lnSpc>
              <a:buNone/>
            </a:pPr>
            <a:r>
              <a:rPr lang="en-US" sz="3150" dirty="0">
                <a:solidFill>
                  <a:srgbClr val="C2CDF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Direzioni di brand identity per un'app di pronostici calcistici: palette, tipografia, tono e un esempio applicato per ciascuna.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1143000" y="8720138"/>
            <a:ext cx="658118" cy="500063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7" name="Text 5"/>
          <p:cNvSpPr/>
          <p:nvPr/>
        </p:nvSpPr>
        <p:spPr>
          <a:xfrm>
            <a:off x="1314450" y="8815388"/>
            <a:ext cx="39141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101A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2a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972568" y="8701088"/>
            <a:ext cx="696218" cy="538163"/>
          </a:xfrm>
          <a:prstGeom prst="rect">
            <a:avLst/>
          </a:prstGeom>
          <a:ln w="19050">
            <a:solidFill>
              <a:srgbClr val="4652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3068" y="8815388"/>
            <a:ext cx="39141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C2CD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2b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2840236" y="8701088"/>
            <a:ext cx="696218" cy="538163"/>
          </a:xfrm>
          <a:prstGeom prst="rect">
            <a:avLst/>
          </a:prstGeom>
          <a:ln w="19050">
            <a:solidFill>
              <a:srgbClr val="4652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0736" y="8815388"/>
            <a:ext cx="39141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C2CD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1a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3707904" y="8701088"/>
            <a:ext cx="696218" cy="538163"/>
          </a:xfrm>
          <a:prstGeom prst="rect">
            <a:avLst/>
          </a:prstGeom>
          <a:ln w="19050">
            <a:solidFill>
              <a:srgbClr val="C6F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98404" y="8815388"/>
            <a:ext cx="39141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C6FF3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3a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4575572" y="8701088"/>
            <a:ext cx="696218" cy="538163"/>
          </a:xfrm>
          <a:prstGeom prst="rect">
            <a:avLst/>
          </a:prstGeom>
          <a:ln w="19050">
            <a:solidFill>
              <a:srgbClr val="4652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6072" y="8815388"/>
            <a:ext cx="39141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C2CD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1b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443240" y="8701088"/>
            <a:ext cx="696218" cy="538163"/>
          </a:xfrm>
          <a:prstGeom prst="rect">
            <a:avLst/>
          </a:prstGeom>
          <a:ln w="19050">
            <a:solidFill>
              <a:srgbClr val="4652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3740" y="8815388"/>
            <a:ext cx="39141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C2CD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1c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310908" y="8701088"/>
            <a:ext cx="696218" cy="538163"/>
          </a:xfrm>
          <a:prstGeom prst="rect">
            <a:avLst/>
          </a:prstGeom>
          <a:ln w="19050">
            <a:solidFill>
              <a:srgbClr val="4652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1408" y="8815388"/>
            <a:ext cx="39141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C2CD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1d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045369"/>
            <a:ext cx="565100" cy="461963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3" name="Text 1"/>
          <p:cNvSpPr/>
          <p:nvPr/>
        </p:nvSpPr>
        <p:spPr>
          <a:xfrm>
            <a:off x="933450" y="1121569"/>
            <a:ext cx="3746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65" kern="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2a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574750" y="914400"/>
            <a:ext cx="311672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121"/>
              </a:lnSpc>
              <a:buNone/>
            </a:pPr>
            <a:r>
              <a:rPr lang="en-US" sz="5700" spc="-171" kern="0" dirty="0">
                <a:solidFill>
                  <a:srgbClr val="17171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Tribuna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800100" y="1847850"/>
            <a:ext cx="1330375" cy="438150"/>
          </a:xfrm>
          <a:prstGeom prst="roundRect">
            <a:avLst>
              <a:gd name="adj" fmla="val 50000"/>
            </a:avLst>
          </a:prstGeom>
          <a:ln w="19050">
            <a:solidFill>
              <a:srgbClr val="1717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9650" y="1943100"/>
            <a:ext cx="9874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affidabile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63825" y="1847850"/>
            <a:ext cx="1347118" cy="438150"/>
          </a:xfrm>
          <a:prstGeom prst="roundRect">
            <a:avLst>
              <a:gd name="adj" fmla="val 50000"/>
            </a:avLst>
          </a:prstGeom>
          <a:ln w="19050">
            <a:solidFill>
              <a:srgbClr val="1717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73375" y="1943100"/>
            <a:ext cx="100421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luminosa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44292" y="1847850"/>
            <a:ext cx="1321371" cy="438150"/>
          </a:xfrm>
          <a:prstGeom prst="roundRect">
            <a:avLst>
              <a:gd name="adj" fmla="val 50000"/>
            </a:avLst>
          </a:prstGeom>
          <a:ln w="19050">
            <a:solidFill>
              <a:srgbClr val="1717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3842" y="1943100"/>
            <a:ext cx="97847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giovanile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0100" y="2495550"/>
            <a:ext cx="932021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55"/>
              </a:lnSpc>
              <a:buNone/>
            </a:pPr>
            <a:r>
              <a:rPr lang="en-US" sz="2025" dirty="0">
                <a:solidFill>
                  <a:srgbClr val="55534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Interfaccia chiara, blu profondo per hero e classifica, giallo solo dove si agisce. Lettering morbido e arrotondato: fresco senza diventare infantile.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800100" y="3705225"/>
            <a:ext cx="1081278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8" kern="0" dirty="0">
                <a:solidFill>
                  <a:srgbClr val="8A888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PALETTE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800100" y="4148137"/>
            <a:ext cx="2314575" cy="1238250"/>
          </a:xfrm>
          <a:prstGeom prst="rect">
            <a:avLst/>
          </a:prstGeom>
          <a:solidFill>
            <a:srgbClr val="0E1B47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" y="5481638"/>
            <a:ext cx="25460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#0E1B47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0100" y="5857875"/>
            <a:ext cx="25460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Primario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3305175" y="4148137"/>
            <a:ext cx="2314575" cy="1238250"/>
          </a:xfrm>
          <a:prstGeom prst="rect">
            <a:avLst/>
          </a:prstGeom>
          <a:solidFill>
            <a:srgbClr val="2E5BE8"/>
          </a:solidFill>
          <a:ln/>
        </p:spPr>
      </p:sp>
      <p:sp>
        <p:nvSpPr>
          <p:cNvPr id="17" name="Text 15"/>
          <p:cNvSpPr/>
          <p:nvPr/>
        </p:nvSpPr>
        <p:spPr>
          <a:xfrm>
            <a:off x="3305175" y="5481638"/>
            <a:ext cx="25460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#2E5BE8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05175" y="5857875"/>
            <a:ext cx="25460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Secondario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5810250" y="4148137"/>
            <a:ext cx="2314575" cy="1238250"/>
          </a:xfrm>
          <a:prstGeom prst="rect">
            <a:avLst/>
          </a:prstGeom>
          <a:solidFill>
            <a:srgbClr val="FFC93C"/>
          </a:solidFill>
          <a:ln/>
        </p:spPr>
      </p:sp>
      <p:sp>
        <p:nvSpPr>
          <p:cNvPr id="20" name="Text 18"/>
          <p:cNvSpPr/>
          <p:nvPr/>
        </p:nvSpPr>
        <p:spPr>
          <a:xfrm>
            <a:off x="5810250" y="5481638"/>
            <a:ext cx="25460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#FFC93C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10250" y="5857875"/>
            <a:ext cx="25460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Accento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8315325" y="4148137"/>
            <a:ext cx="2314575" cy="1257300"/>
          </a:xfrm>
          <a:prstGeom prst="rect">
            <a:avLst/>
          </a:prstGeom>
          <a:solidFill>
            <a:srgbClr val="F4F6FB"/>
          </a:solidFill>
          <a:ln w="9525">
            <a:solidFill>
              <a:srgbClr val="D8D5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15325" y="5500688"/>
            <a:ext cx="25460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#F4F6FB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15325" y="5876925"/>
            <a:ext cx="25460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Sfondo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800100" y="6510338"/>
            <a:ext cx="9829800" cy="19050"/>
          </a:xfrm>
          <a:prstGeom prst="rect">
            <a:avLst/>
          </a:prstGeom>
          <a:solidFill>
            <a:srgbClr val="D8D5CD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" y="6853238"/>
            <a:ext cx="1081278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8" kern="0" dirty="0">
                <a:solidFill>
                  <a:srgbClr val="8A888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SORA EXTRABOLD + MANROPE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800100" y="7258050"/>
            <a:ext cx="10812780" cy="834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79"/>
              </a:lnSpc>
              <a:buNone/>
            </a:pPr>
            <a:r>
              <a:rPr lang="en-US" sz="6150" b="1" spc="-246" kern="0" dirty="0">
                <a:solidFill>
                  <a:srgbClr val="0E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Milan–Inter </a:t>
            </a:r>
            <a:pPr algn="l" indent="0" marL="0">
              <a:lnSpc>
                <a:spcPct val="88979"/>
              </a:lnSpc>
              <a:buNone/>
            </a:pPr>
            <a:r>
              <a:rPr lang="en-US" sz="6150" b="1" spc="-246" kern="0" dirty="0">
                <a:solidFill>
                  <a:srgbClr val="2E5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</a:t>
            </a:r>
            <a:endParaRPr lang="en-US" sz="6150" dirty="0"/>
          </a:p>
        </p:txBody>
      </p:sp>
      <p:sp>
        <p:nvSpPr>
          <p:cNvPr id="28" name="Text 26"/>
          <p:cNvSpPr/>
          <p:nvPr/>
        </p:nvSpPr>
        <p:spPr>
          <a:xfrm>
            <a:off x="800100" y="8188003"/>
            <a:ext cx="882967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21"/>
              </a:lnSpc>
              <a:buNone/>
            </a:pPr>
            <a:r>
              <a:rPr lang="en-US" sz="1950" dirty="0">
                <a:solidFill>
                  <a:srgbClr val="3C3B3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Testo corpo in Manrope. Pronostica il risultato esatto entro il fischio d'inizio e sali in classifica.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1430000" y="0"/>
            <a:ext cx="6858000" cy="10287000"/>
          </a:xfrm>
          <a:prstGeom prst="rect">
            <a:avLst/>
          </a:prstGeom>
          <a:solidFill>
            <a:srgbClr val="DEDAD1"/>
          </a:solidFill>
          <a:ln/>
        </p:spPr>
      </p:sp>
      <p:sp>
        <p:nvSpPr>
          <p:cNvPr id="30" name="Shape 28"/>
          <p:cNvSpPr/>
          <p:nvPr/>
        </p:nvSpPr>
        <p:spPr>
          <a:xfrm>
            <a:off x="11544300" y="167953"/>
            <a:ext cx="6629400" cy="9951095"/>
          </a:xfrm>
          <a:prstGeom prst="roundRect">
            <a:avLst>
              <a:gd name="adj" fmla="val 747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0" dist="342900" dir="5400000">
              <a:srgbClr val="0E1B47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1963400" y="510853"/>
            <a:ext cx="65097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B85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20:45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6645235" y="510853"/>
            <a:ext cx="118556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B85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Serie A · G3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1811000" y="1025203"/>
            <a:ext cx="1930375" cy="1209675"/>
          </a:xfrm>
          <a:prstGeom prst="roundRect">
            <a:avLst>
              <a:gd name="adj" fmla="val 22047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12020550" y="1215703"/>
            <a:ext cx="166240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35" kern="0" dirty="0">
                <a:solidFill>
                  <a:srgbClr val="7B85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PUNTI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2020550" y="1563365"/>
            <a:ext cx="1662403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120" kern="0" dirty="0">
                <a:solidFill>
                  <a:srgbClr val="0E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1.240</a:t>
            </a:r>
            <a:endParaRPr lang="en-US" sz="3000" dirty="0"/>
          </a:p>
        </p:txBody>
      </p:sp>
      <p:sp>
        <p:nvSpPr>
          <p:cNvPr id="36" name="Shape 34"/>
          <p:cNvSpPr/>
          <p:nvPr/>
        </p:nvSpPr>
        <p:spPr>
          <a:xfrm>
            <a:off x="13893775" y="1025203"/>
            <a:ext cx="1930375" cy="1209675"/>
          </a:xfrm>
          <a:prstGeom prst="roundRect">
            <a:avLst>
              <a:gd name="adj" fmla="val 22047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14103325" y="1215703"/>
            <a:ext cx="166240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35" kern="0" dirty="0">
                <a:solidFill>
                  <a:srgbClr val="7B85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POSIZIONE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4103325" y="1563365"/>
            <a:ext cx="1662403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120" kern="0" dirty="0">
                <a:solidFill>
                  <a:srgbClr val="0E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#312</a:t>
            </a:r>
            <a:endParaRPr lang="en-US" sz="3000" dirty="0"/>
          </a:p>
        </p:txBody>
      </p:sp>
      <p:sp>
        <p:nvSpPr>
          <p:cNvPr id="39" name="Shape 37"/>
          <p:cNvSpPr/>
          <p:nvPr/>
        </p:nvSpPr>
        <p:spPr>
          <a:xfrm>
            <a:off x="15976550" y="1025203"/>
            <a:ext cx="1930450" cy="1209675"/>
          </a:xfrm>
          <a:prstGeom prst="roundRect">
            <a:avLst>
              <a:gd name="adj" fmla="val 22047"/>
            </a:avLst>
          </a:prstGeom>
          <a:solidFill>
            <a:srgbClr val="0E1B47"/>
          </a:solidFill>
          <a:ln/>
        </p:spPr>
      </p:sp>
      <p:sp>
        <p:nvSpPr>
          <p:cNvPr id="40" name="Text 38"/>
          <p:cNvSpPr/>
          <p:nvPr/>
        </p:nvSpPr>
        <p:spPr>
          <a:xfrm>
            <a:off x="16186100" y="1215703"/>
            <a:ext cx="1662485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35" kern="0" dirty="0">
                <a:solidFill>
                  <a:srgbClr val="8F9D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GIORNATA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6186100" y="1563365"/>
            <a:ext cx="1662485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120" kern="0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</a:t>
            </a:r>
            <a:endParaRPr lang="en-US" sz="3000" dirty="0"/>
          </a:p>
        </p:txBody>
      </p:sp>
      <p:sp>
        <p:nvSpPr>
          <p:cNvPr id="42" name="Shape 40"/>
          <p:cNvSpPr/>
          <p:nvPr/>
        </p:nvSpPr>
        <p:spPr>
          <a:xfrm>
            <a:off x="11811000" y="2463478"/>
            <a:ext cx="6096000" cy="3655070"/>
          </a:xfrm>
          <a:prstGeom prst="roundRect">
            <a:avLst>
              <a:gd name="adj" fmla="val 10424"/>
            </a:avLst>
          </a:prstGeom>
          <a:gradFill rotWithShape="1">
            <a:gsLst>
              <a:gs pos="0">
                <a:srgbClr val="2E5BE8">
                  <a:alpha val="100000"/>
                </a:srgbClr>
              </a:gs>
              <a:gs pos="78000">
                <a:srgbClr val="0E1B47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43" name="Text 41"/>
          <p:cNvSpPr/>
          <p:nvPr/>
        </p:nvSpPr>
        <p:spPr>
          <a:xfrm>
            <a:off x="12153900" y="2806378"/>
            <a:ext cx="595122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FFC93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GIORNATA 28 · 10 PARTITE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2153900" y="3182615"/>
            <a:ext cx="5572506" cy="108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639"/>
              </a:lnSpc>
              <a:buNone/>
            </a:pPr>
            <a:r>
              <a:rPr lang="en-US" sz="3900" b="1" spc="-13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big match è aperto</a:t>
            </a:r>
            <a:endParaRPr lang="en-US" sz="3900" dirty="0"/>
          </a:p>
        </p:txBody>
      </p:sp>
      <p:sp>
        <p:nvSpPr>
          <p:cNvPr id="45" name="Text 43"/>
          <p:cNvSpPr/>
          <p:nvPr/>
        </p:nvSpPr>
        <p:spPr>
          <a:xfrm>
            <a:off x="12153900" y="4346897"/>
            <a:ext cx="595122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2CD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Scade sab. 20:00 · 48.219 pronostici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2153900" y="4923160"/>
            <a:ext cx="5410200" cy="852488"/>
          </a:xfrm>
          <a:prstGeom prst="roundRect">
            <a:avLst>
              <a:gd name="adj" fmla="val 50000"/>
            </a:avLst>
          </a:prstGeom>
          <a:solidFill>
            <a:srgbClr val="FFC93C"/>
          </a:solidFill>
          <a:ln/>
        </p:spPr>
      </p:sp>
      <p:sp>
        <p:nvSpPr>
          <p:cNvPr id="47" name="Text 45"/>
          <p:cNvSpPr/>
          <p:nvPr/>
        </p:nvSpPr>
        <p:spPr>
          <a:xfrm>
            <a:off x="12320397" y="5170810"/>
            <a:ext cx="507720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-45" kern="0" dirty="0">
                <a:solidFill>
                  <a:srgbClr val="0E1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Gioca ora</a:t>
            </a:r>
            <a:endParaRPr lang="en-US" sz="2250" dirty="0"/>
          </a:p>
        </p:txBody>
      </p:sp>
      <p:sp>
        <p:nvSpPr>
          <p:cNvPr id="48" name="Shape 46"/>
          <p:cNvSpPr/>
          <p:nvPr/>
        </p:nvSpPr>
        <p:spPr>
          <a:xfrm>
            <a:off x="11811000" y="6347147"/>
            <a:ext cx="6096000" cy="2195513"/>
          </a:xfrm>
          <a:prstGeom prst="roundRect">
            <a:avLst>
              <a:gd name="adj" fmla="val 17354"/>
            </a:avLst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12115800" y="6670997"/>
            <a:ext cx="286797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7B85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PRECISIONE STAGIONE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17089115" y="6651947"/>
            <a:ext cx="58928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5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2115800" y="7826425"/>
            <a:ext cx="835000" cy="411435"/>
          </a:xfrm>
          <a:prstGeom prst="roundRect">
            <a:avLst>
              <a:gd name="adj" fmla="val 18521"/>
            </a:avLst>
          </a:prstGeom>
          <a:solidFill>
            <a:srgbClr val="DBE3F7"/>
          </a:solidFill>
          <a:ln/>
        </p:spPr>
      </p:sp>
      <p:sp>
        <p:nvSpPr>
          <p:cNvPr id="52" name="Shape 50"/>
          <p:cNvSpPr/>
          <p:nvPr/>
        </p:nvSpPr>
        <p:spPr>
          <a:xfrm>
            <a:off x="13046050" y="7600131"/>
            <a:ext cx="835075" cy="637729"/>
          </a:xfrm>
          <a:prstGeom prst="roundRect">
            <a:avLst>
              <a:gd name="adj" fmla="val 11949"/>
            </a:avLst>
          </a:prstGeom>
          <a:solidFill>
            <a:srgbClr val="DBE3F7"/>
          </a:solidFill>
          <a:ln/>
        </p:spPr>
      </p:sp>
      <p:sp>
        <p:nvSpPr>
          <p:cNvPr id="53" name="Shape 51"/>
          <p:cNvSpPr/>
          <p:nvPr/>
        </p:nvSpPr>
        <p:spPr>
          <a:xfrm>
            <a:off x="13976375" y="7702972"/>
            <a:ext cx="835000" cy="534888"/>
          </a:xfrm>
          <a:prstGeom prst="roundRect">
            <a:avLst>
              <a:gd name="adj" fmla="val 14246"/>
            </a:avLst>
          </a:prstGeom>
          <a:solidFill>
            <a:srgbClr val="DBE3F7"/>
          </a:solidFill>
          <a:ln/>
        </p:spPr>
      </p:sp>
      <p:sp>
        <p:nvSpPr>
          <p:cNvPr id="54" name="Shape 52"/>
          <p:cNvSpPr/>
          <p:nvPr/>
        </p:nvSpPr>
        <p:spPr>
          <a:xfrm>
            <a:off x="14906625" y="7435528"/>
            <a:ext cx="835075" cy="802332"/>
          </a:xfrm>
          <a:prstGeom prst="roundRect">
            <a:avLst>
              <a:gd name="adj" fmla="val 9497"/>
            </a:avLst>
          </a:prstGeom>
          <a:solidFill>
            <a:srgbClr val="2E5BE8"/>
          </a:solidFill>
          <a:ln/>
        </p:spPr>
      </p:sp>
      <p:sp>
        <p:nvSpPr>
          <p:cNvPr id="55" name="Shape 53"/>
          <p:cNvSpPr/>
          <p:nvPr/>
        </p:nvSpPr>
        <p:spPr>
          <a:xfrm>
            <a:off x="15836950" y="7209160"/>
            <a:ext cx="835000" cy="1028700"/>
          </a:xfrm>
          <a:prstGeom prst="roundRect">
            <a:avLst>
              <a:gd name="adj" fmla="val 9126"/>
            </a:avLst>
          </a:prstGeom>
          <a:solidFill>
            <a:srgbClr val="FFC93C"/>
          </a:solidFill>
          <a:ln/>
        </p:spPr>
      </p:sp>
      <p:sp>
        <p:nvSpPr>
          <p:cNvPr id="56" name="Shape 54"/>
          <p:cNvSpPr/>
          <p:nvPr/>
        </p:nvSpPr>
        <p:spPr>
          <a:xfrm>
            <a:off x="16767200" y="7929265"/>
            <a:ext cx="835000" cy="308595"/>
          </a:xfrm>
          <a:prstGeom prst="roundRect">
            <a:avLst>
              <a:gd name="adj" fmla="val 24693"/>
            </a:avLst>
          </a:prstGeom>
          <a:solidFill>
            <a:srgbClr val="DBE3F7"/>
          </a:solidFill>
          <a:ln/>
        </p:spPr>
      </p:sp>
      <p:sp>
        <p:nvSpPr>
          <p:cNvPr id="57" name="Shape 55"/>
          <p:cNvSpPr/>
          <p:nvPr/>
        </p:nvSpPr>
        <p:spPr>
          <a:xfrm>
            <a:off x="11544300" y="8809360"/>
            <a:ext cx="6629400" cy="19050"/>
          </a:xfrm>
          <a:prstGeom prst="rect">
            <a:avLst/>
          </a:prstGeom>
          <a:solidFill>
            <a:srgbClr val="E2E6F0"/>
          </a:solidFill>
          <a:ln/>
        </p:spPr>
      </p:sp>
      <p:sp>
        <p:nvSpPr>
          <p:cNvPr id="58" name="Shape 56"/>
          <p:cNvSpPr/>
          <p:nvPr/>
        </p:nvSpPr>
        <p:spPr>
          <a:xfrm>
            <a:off x="12420600" y="9057010"/>
            <a:ext cx="304800" cy="304800"/>
          </a:xfrm>
          <a:prstGeom prst="roundRect">
            <a:avLst>
              <a:gd name="adj" fmla="val 31250"/>
            </a:avLst>
          </a:prstGeom>
          <a:solidFill>
            <a:srgbClr val="0E1B47"/>
          </a:solidFill>
          <a:ln/>
        </p:spPr>
      </p:sp>
      <p:sp>
        <p:nvSpPr>
          <p:cNvPr id="59" name="Text 57"/>
          <p:cNvSpPr/>
          <p:nvPr/>
        </p:nvSpPr>
        <p:spPr>
          <a:xfrm>
            <a:off x="12265075" y="9476110"/>
            <a:ext cx="61585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Home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13906500" y="9057010"/>
            <a:ext cx="381000" cy="381000"/>
          </a:xfrm>
          <a:prstGeom prst="roundRect">
            <a:avLst>
              <a:gd name="adj" fmla="val 25000"/>
            </a:avLst>
          </a:prstGeom>
          <a:ln w="38100">
            <a:solidFill>
              <a:srgbClr val="A6B0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595821" y="9552310"/>
            <a:ext cx="100235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B85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Pronostici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15430500" y="9057010"/>
            <a:ext cx="381000" cy="381000"/>
          </a:xfrm>
          <a:prstGeom prst="ellipse">
            <a:avLst/>
          </a:prstGeom>
          <a:ln w="38100">
            <a:solidFill>
              <a:srgbClr val="A6B0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5302731" y="9552310"/>
            <a:ext cx="63653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B85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Leghe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16992600" y="9057010"/>
            <a:ext cx="304800" cy="304800"/>
          </a:xfrm>
          <a:prstGeom prst="ellipse">
            <a:avLst/>
          </a:prstGeom>
          <a:solidFill>
            <a:srgbClr val="A6B0CC"/>
          </a:solidFill>
          <a:ln/>
        </p:spPr>
      </p:sp>
      <p:sp>
        <p:nvSpPr>
          <p:cNvPr id="65" name="Text 63"/>
          <p:cNvSpPr/>
          <p:nvPr/>
        </p:nvSpPr>
        <p:spPr>
          <a:xfrm>
            <a:off x="16660862" y="9476110"/>
            <a:ext cx="96820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B85A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Classifica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045369"/>
            <a:ext cx="565100" cy="461963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3" name="Text 1"/>
          <p:cNvSpPr/>
          <p:nvPr/>
        </p:nvSpPr>
        <p:spPr>
          <a:xfrm>
            <a:off x="933450" y="1121569"/>
            <a:ext cx="3746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65" kern="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2b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574750" y="914400"/>
            <a:ext cx="4139922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121"/>
              </a:lnSpc>
              <a:buNone/>
            </a:pPr>
            <a:r>
              <a:rPr lang="en-US" sz="5700" spc="-171" kern="0" dirty="0">
                <a:solidFill>
                  <a:srgbClr val="17171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Prima Fila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800100" y="1847850"/>
            <a:ext cx="1295698" cy="438150"/>
          </a:xfrm>
          <a:prstGeom prst="roundRect">
            <a:avLst>
              <a:gd name="adj" fmla="val 50000"/>
            </a:avLst>
          </a:prstGeom>
          <a:ln w="19050">
            <a:solidFill>
              <a:srgbClr val="1717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9650" y="1943100"/>
            <a:ext cx="9527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energica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29148" y="1847850"/>
            <a:ext cx="1228204" cy="438150"/>
          </a:xfrm>
          <a:prstGeom prst="roundRect">
            <a:avLst>
              <a:gd name="adj" fmla="val 50000"/>
            </a:avLst>
          </a:prstGeom>
          <a:ln w="19050">
            <a:solidFill>
              <a:srgbClr val="1717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38698" y="1943100"/>
            <a:ext cx="8853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sportiva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590702" y="1847850"/>
            <a:ext cx="1059210" cy="438150"/>
          </a:xfrm>
          <a:prstGeom prst="roundRect">
            <a:avLst>
              <a:gd name="adj" fmla="val 50000"/>
            </a:avLst>
          </a:prstGeom>
          <a:ln w="19050">
            <a:solidFill>
              <a:srgbClr val="1717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00252" y="1943100"/>
            <a:ext cx="7163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diretta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0100" y="2495550"/>
            <a:ext cx="9320213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55"/>
              </a:lnSpc>
              <a:buNone/>
            </a:pPr>
            <a:r>
              <a:rPr lang="en-US" sz="2025" dirty="0">
                <a:solidFill>
                  <a:srgbClr val="55534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Blu cobalto come colore di marca, giallo limone come secondo protagonista e non come dettaglio. Grottesca larga, numeri grossi: molto riconoscibile in home screen.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800100" y="4090987"/>
            <a:ext cx="1081278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8" kern="0" dirty="0">
                <a:solidFill>
                  <a:srgbClr val="8A888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PALETTE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800100" y="4533900"/>
            <a:ext cx="2314575" cy="1238250"/>
          </a:xfrm>
          <a:prstGeom prst="rect">
            <a:avLst/>
          </a:prstGeom>
          <a:solidFill>
            <a:srgbClr val="1B36D8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" y="5867400"/>
            <a:ext cx="25460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#1B36D8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0100" y="6243638"/>
            <a:ext cx="25460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Primario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3305175" y="4533900"/>
            <a:ext cx="2314575" cy="1238250"/>
          </a:xfrm>
          <a:prstGeom prst="rect">
            <a:avLst/>
          </a:prstGeom>
          <a:solidFill>
            <a:srgbClr val="0A1330"/>
          </a:solidFill>
          <a:ln/>
        </p:spPr>
      </p:sp>
      <p:sp>
        <p:nvSpPr>
          <p:cNvPr id="17" name="Text 15"/>
          <p:cNvSpPr/>
          <p:nvPr/>
        </p:nvSpPr>
        <p:spPr>
          <a:xfrm>
            <a:off x="3305175" y="5867400"/>
            <a:ext cx="25460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#0A1330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05175" y="6243638"/>
            <a:ext cx="25460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Secondario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5810250" y="4533900"/>
            <a:ext cx="2314575" cy="1238250"/>
          </a:xfrm>
          <a:prstGeom prst="rect">
            <a:avLst/>
          </a:prstGeom>
          <a:solidFill>
            <a:srgbClr val="F2E63A"/>
          </a:solidFill>
          <a:ln/>
        </p:spPr>
      </p:sp>
      <p:sp>
        <p:nvSpPr>
          <p:cNvPr id="20" name="Text 18"/>
          <p:cNvSpPr/>
          <p:nvPr/>
        </p:nvSpPr>
        <p:spPr>
          <a:xfrm>
            <a:off x="5810250" y="5867400"/>
            <a:ext cx="25460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#F2E63A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10250" y="6243638"/>
            <a:ext cx="25460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Accento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8315325" y="4533900"/>
            <a:ext cx="2314575" cy="1238250"/>
          </a:xfrm>
          <a:prstGeom prst="rect">
            <a:avLst/>
          </a:prstGeom>
          <a:solidFill>
            <a:srgbClr val="071026"/>
          </a:solidFill>
          <a:ln/>
        </p:spPr>
      </p:sp>
      <p:sp>
        <p:nvSpPr>
          <p:cNvPr id="23" name="Text 21"/>
          <p:cNvSpPr/>
          <p:nvPr/>
        </p:nvSpPr>
        <p:spPr>
          <a:xfrm>
            <a:off x="8315325" y="5867400"/>
            <a:ext cx="25460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#071026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15325" y="6243638"/>
            <a:ext cx="25460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Sfondo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800100" y="6877050"/>
            <a:ext cx="9829800" cy="19050"/>
          </a:xfrm>
          <a:prstGeom prst="rect">
            <a:avLst/>
          </a:prstGeom>
          <a:solidFill>
            <a:srgbClr val="D8D5CD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" y="7219950"/>
            <a:ext cx="1081278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8" kern="0" dirty="0">
                <a:solidFill>
                  <a:srgbClr val="8A888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CHIVO BLACK + FIGTREE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800100" y="7624762"/>
            <a:ext cx="1081278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47"/>
              </a:lnSpc>
              <a:buNone/>
            </a:pPr>
            <a:r>
              <a:rPr lang="en-US" sz="6300" b="1" spc="-220" kern="0" dirty="0">
                <a:solidFill>
                  <a:srgbClr val="1B3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MILAN–INTER </a:t>
            </a:r>
            <a:pPr algn="l" indent="0" marL="0">
              <a:lnSpc>
                <a:spcPct val="87047"/>
              </a:lnSpc>
              <a:buNone/>
            </a:pPr>
            <a:r>
              <a:rPr lang="en-US" sz="6300" b="1" spc="-220" kern="0" dirty="0">
                <a:solidFill>
                  <a:srgbClr val="0A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</a:t>
            </a:r>
            <a:endParaRPr lang="en-US" sz="6300" dirty="0"/>
          </a:p>
        </p:txBody>
      </p:sp>
      <p:sp>
        <p:nvSpPr>
          <p:cNvPr id="28" name="Text 26"/>
          <p:cNvSpPr/>
          <p:nvPr/>
        </p:nvSpPr>
        <p:spPr>
          <a:xfrm>
            <a:off x="800100" y="8558213"/>
            <a:ext cx="882967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3C3B3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Testo corpo in Figtree. Pronostica il risultato esatto entro il fischio d'inizio e sali in classifica.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1430000" y="0"/>
            <a:ext cx="6858000" cy="10287000"/>
          </a:xfrm>
          <a:prstGeom prst="rect">
            <a:avLst/>
          </a:prstGeom>
          <a:solidFill>
            <a:srgbClr val="DEDAD1"/>
          </a:solidFill>
          <a:ln/>
        </p:spPr>
      </p:sp>
      <p:sp>
        <p:nvSpPr>
          <p:cNvPr id="30" name="Shape 28"/>
          <p:cNvSpPr/>
          <p:nvPr/>
        </p:nvSpPr>
        <p:spPr>
          <a:xfrm>
            <a:off x="11544300" y="256729"/>
            <a:ext cx="6629400" cy="9773543"/>
          </a:xfrm>
          <a:prstGeom prst="roundRect">
            <a:avLst>
              <a:gd name="adj" fmla="val 7471"/>
            </a:avLst>
          </a:prstGeom>
          <a:solidFill>
            <a:srgbClr val="071026"/>
          </a:solidFill>
          <a:ln/>
          <a:effectLst>
            <a:outerShdw sx="100000" sy="100000" kx="0" ky="0" algn="bl" rotWithShape="0" blurRad="762000" dist="342900" dir="5400000">
              <a:srgbClr val="071026">
                <a:alpha val="3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1963400" y="599629"/>
            <a:ext cx="643086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D8AB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20:45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6642482" y="599629"/>
            <a:ext cx="1188318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D8AB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Serie A · G3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1811000" y="1080641"/>
            <a:ext cx="1930375" cy="1133475"/>
          </a:xfrm>
          <a:prstGeom prst="roundRect">
            <a:avLst>
              <a:gd name="adj" fmla="val 20168"/>
            </a:avLst>
          </a:prstGeom>
          <a:solidFill>
            <a:srgbClr val="0F1C42"/>
          </a:solidFill>
          <a:ln/>
        </p:spPr>
      </p:sp>
      <p:sp>
        <p:nvSpPr>
          <p:cNvPr id="34" name="Text 32"/>
          <p:cNvSpPr/>
          <p:nvPr/>
        </p:nvSpPr>
        <p:spPr>
          <a:xfrm>
            <a:off x="12020550" y="1271141"/>
            <a:ext cx="166240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35" kern="0" dirty="0">
                <a:solidFill>
                  <a:srgbClr val="7D8AB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PUNTI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2020550" y="1571179"/>
            <a:ext cx="1662403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1.240</a:t>
            </a:r>
            <a:endParaRPr lang="en-US" sz="3000" dirty="0"/>
          </a:p>
        </p:txBody>
      </p:sp>
      <p:sp>
        <p:nvSpPr>
          <p:cNvPr id="36" name="Shape 34"/>
          <p:cNvSpPr/>
          <p:nvPr/>
        </p:nvSpPr>
        <p:spPr>
          <a:xfrm>
            <a:off x="13893775" y="1080641"/>
            <a:ext cx="1930375" cy="1133475"/>
          </a:xfrm>
          <a:prstGeom prst="roundRect">
            <a:avLst>
              <a:gd name="adj" fmla="val 20168"/>
            </a:avLst>
          </a:prstGeom>
          <a:solidFill>
            <a:srgbClr val="0F1C42"/>
          </a:solidFill>
          <a:ln/>
        </p:spPr>
      </p:sp>
      <p:sp>
        <p:nvSpPr>
          <p:cNvPr id="37" name="Text 35"/>
          <p:cNvSpPr/>
          <p:nvPr/>
        </p:nvSpPr>
        <p:spPr>
          <a:xfrm>
            <a:off x="14103325" y="1271141"/>
            <a:ext cx="166240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35" kern="0" dirty="0">
                <a:solidFill>
                  <a:srgbClr val="7D8AB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POSIZIONE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4103325" y="1571179"/>
            <a:ext cx="1662403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#312</a:t>
            </a:r>
            <a:endParaRPr lang="en-US" sz="3000" dirty="0"/>
          </a:p>
        </p:txBody>
      </p:sp>
      <p:sp>
        <p:nvSpPr>
          <p:cNvPr id="39" name="Shape 37"/>
          <p:cNvSpPr/>
          <p:nvPr/>
        </p:nvSpPr>
        <p:spPr>
          <a:xfrm>
            <a:off x="15976550" y="1080641"/>
            <a:ext cx="1930450" cy="1133475"/>
          </a:xfrm>
          <a:prstGeom prst="roundRect">
            <a:avLst>
              <a:gd name="adj" fmla="val 20168"/>
            </a:avLst>
          </a:prstGeom>
          <a:solidFill>
            <a:srgbClr val="F2E63A"/>
          </a:solidFill>
          <a:ln/>
        </p:spPr>
      </p:sp>
      <p:sp>
        <p:nvSpPr>
          <p:cNvPr id="40" name="Text 38"/>
          <p:cNvSpPr/>
          <p:nvPr/>
        </p:nvSpPr>
        <p:spPr>
          <a:xfrm>
            <a:off x="16186100" y="1271141"/>
            <a:ext cx="166248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35" kern="0" dirty="0">
                <a:solidFill>
                  <a:srgbClr val="5C551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GIORNATA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6186100" y="1571179"/>
            <a:ext cx="1662485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120" kern="0" dirty="0">
                <a:solidFill>
                  <a:srgbClr val="0A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</a:t>
            </a:r>
            <a:endParaRPr lang="en-US" sz="3000" dirty="0"/>
          </a:p>
        </p:txBody>
      </p:sp>
      <p:sp>
        <p:nvSpPr>
          <p:cNvPr id="42" name="Shape 40"/>
          <p:cNvSpPr/>
          <p:nvPr/>
        </p:nvSpPr>
        <p:spPr>
          <a:xfrm>
            <a:off x="11811000" y="2442716"/>
            <a:ext cx="6096000" cy="3639443"/>
          </a:xfrm>
          <a:prstGeom prst="roundRect">
            <a:avLst>
              <a:gd name="adj" fmla="val 9422"/>
            </a:avLst>
          </a:prstGeom>
          <a:solidFill>
            <a:srgbClr val="1B36D8"/>
          </a:solidFill>
          <a:ln/>
        </p:spPr>
      </p:sp>
      <p:sp>
        <p:nvSpPr>
          <p:cNvPr id="43" name="Text 41"/>
          <p:cNvSpPr/>
          <p:nvPr/>
        </p:nvSpPr>
        <p:spPr>
          <a:xfrm>
            <a:off x="12153900" y="2785616"/>
            <a:ext cx="59512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F2E6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GIORNATA 28 · 10 PARTITE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2153900" y="3128516"/>
            <a:ext cx="5572506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217"/>
              </a:lnSpc>
              <a:buNone/>
            </a:pPr>
            <a:r>
              <a:rPr lang="en-US" sz="4500" b="1" spc="-15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BIG MATCH È APERTO</a:t>
            </a:r>
            <a:endParaRPr lang="en-US" sz="4500" dirty="0"/>
          </a:p>
        </p:txBody>
      </p:sp>
      <p:sp>
        <p:nvSpPr>
          <p:cNvPr id="45" name="Text 43"/>
          <p:cNvSpPr/>
          <p:nvPr/>
        </p:nvSpPr>
        <p:spPr>
          <a:xfrm>
            <a:off x="12153900" y="4362896"/>
            <a:ext cx="59512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FC9F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Scade sab. 20:00 · 48.219 pronostici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2153900" y="4905821"/>
            <a:ext cx="5410200" cy="833438"/>
          </a:xfrm>
          <a:prstGeom prst="roundRect">
            <a:avLst>
              <a:gd name="adj" fmla="val 22857"/>
            </a:avLst>
          </a:prstGeom>
          <a:solidFill>
            <a:srgbClr val="F2E63A"/>
          </a:solidFill>
          <a:ln/>
        </p:spPr>
      </p:sp>
      <p:sp>
        <p:nvSpPr>
          <p:cNvPr id="47" name="Text 45"/>
          <p:cNvSpPr/>
          <p:nvPr/>
        </p:nvSpPr>
        <p:spPr>
          <a:xfrm>
            <a:off x="12320397" y="5153471"/>
            <a:ext cx="507720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22" kern="0" dirty="0">
                <a:solidFill>
                  <a:srgbClr val="0A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GIOCA ORA</a:t>
            </a:r>
            <a:endParaRPr lang="en-US" sz="2250" dirty="0"/>
          </a:p>
        </p:txBody>
      </p:sp>
      <p:sp>
        <p:nvSpPr>
          <p:cNvPr id="48" name="Shape 46"/>
          <p:cNvSpPr/>
          <p:nvPr/>
        </p:nvSpPr>
        <p:spPr>
          <a:xfrm>
            <a:off x="11811000" y="6310759"/>
            <a:ext cx="6096000" cy="2176463"/>
          </a:xfrm>
          <a:prstGeom prst="roundRect">
            <a:avLst>
              <a:gd name="adj" fmla="val 15755"/>
            </a:avLst>
          </a:prstGeom>
          <a:solidFill>
            <a:srgbClr val="0F1C42"/>
          </a:solidFill>
          <a:ln/>
        </p:spPr>
      </p:sp>
      <p:sp>
        <p:nvSpPr>
          <p:cNvPr id="49" name="Text 47"/>
          <p:cNvSpPr/>
          <p:nvPr/>
        </p:nvSpPr>
        <p:spPr>
          <a:xfrm>
            <a:off x="12115800" y="6648896"/>
            <a:ext cx="288540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7D8AB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PRECISIONE STAGIONE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17158022" y="6615559"/>
            <a:ext cx="52037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E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2115800" y="7770986"/>
            <a:ext cx="835000" cy="411435"/>
          </a:xfrm>
          <a:prstGeom prst="roundRect">
            <a:avLst>
              <a:gd name="adj" fmla="val 13890"/>
            </a:avLst>
          </a:prstGeom>
          <a:solidFill>
            <a:srgbClr val="23366E"/>
          </a:solidFill>
          <a:ln/>
        </p:spPr>
      </p:sp>
      <p:sp>
        <p:nvSpPr>
          <p:cNvPr id="52" name="Shape 50"/>
          <p:cNvSpPr/>
          <p:nvPr/>
        </p:nvSpPr>
        <p:spPr>
          <a:xfrm>
            <a:off x="13046050" y="7544693"/>
            <a:ext cx="835075" cy="637729"/>
          </a:xfrm>
          <a:prstGeom prst="roundRect">
            <a:avLst>
              <a:gd name="adj" fmla="val 8961"/>
            </a:avLst>
          </a:prstGeom>
          <a:solidFill>
            <a:srgbClr val="23366E"/>
          </a:solidFill>
          <a:ln/>
        </p:spPr>
      </p:sp>
      <p:sp>
        <p:nvSpPr>
          <p:cNvPr id="53" name="Shape 51"/>
          <p:cNvSpPr/>
          <p:nvPr/>
        </p:nvSpPr>
        <p:spPr>
          <a:xfrm>
            <a:off x="13976375" y="7647533"/>
            <a:ext cx="835000" cy="534888"/>
          </a:xfrm>
          <a:prstGeom prst="roundRect">
            <a:avLst>
              <a:gd name="adj" fmla="val 10684"/>
            </a:avLst>
          </a:prstGeom>
          <a:solidFill>
            <a:srgbClr val="23366E"/>
          </a:solidFill>
          <a:ln/>
        </p:spPr>
      </p:sp>
      <p:sp>
        <p:nvSpPr>
          <p:cNvPr id="54" name="Shape 52"/>
          <p:cNvSpPr/>
          <p:nvPr/>
        </p:nvSpPr>
        <p:spPr>
          <a:xfrm>
            <a:off x="14906625" y="7380089"/>
            <a:ext cx="835075" cy="802332"/>
          </a:xfrm>
          <a:prstGeom prst="roundRect">
            <a:avLst>
              <a:gd name="adj" fmla="val 7123"/>
            </a:avLst>
          </a:prstGeom>
          <a:solidFill>
            <a:srgbClr val="4E6BFF"/>
          </a:solidFill>
          <a:ln/>
        </p:spPr>
      </p:sp>
      <p:sp>
        <p:nvSpPr>
          <p:cNvPr id="55" name="Shape 53"/>
          <p:cNvSpPr/>
          <p:nvPr/>
        </p:nvSpPr>
        <p:spPr>
          <a:xfrm>
            <a:off x="15836950" y="7153721"/>
            <a:ext cx="835000" cy="1028700"/>
          </a:xfrm>
          <a:prstGeom prst="roundRect">
            <a:avLst>
              <a:gd name="adj" fmla="val 6844"/>
            </a:avLst>
          </a:prstGeom>
          <a:solidFill>
            <a:srgbClr val="F2E63A"/>
          </a:solidFill>
          <a:ln/>
        </p:spPr>
      </p:sp>
      <p:sp>
        <p:nvSpPr>
          <p:cNvPr id="56" name="Shape 54"/>
          <p:cNvSpPr/>
          <p:nvPr/>
        </p:nvSpPr>
        <p:spPr>
          <a:xfrm>
            <a:off x="16767200" y="7873826"/>
            <a:ext cx="835000" cy="308595"/>
          </a:xfrm>
          <a:prstGeom prst="roundRect">
            <a:avLst>
              <a:gd name="adj" fmla="val 18519"/>
            </a:avLst>
          </a:prstGeom>
          <a:solidFill>
            <a:srgbClr val="23366E"/>
          </a:solidFill>
          <a:ln/>
        </p:spPr>
      </p:sp>
      <p:sp>
        <p:nvSpPr>
          <p:cNvPr id="57" name="Shape 55"/>
          <p:cNvSpPr/>
          <p:nvPr/>
        </p:nvSpPr>
        <p:spPr>
          <a:xfrm>
            <a:off x="11544300" y="8753921"/>
            <a:ext cx="6629400" cy="19050"/>
          </a:xfrm>
          <a:prstGeom prst="rect">
            <a:avLst/>
          </a:prstGeom>
          <a:solidFill>
            <a:srgbClr val="16224A"/>
          </a:solidFill>
          <a:ln/>
        </p:spPr>
      </p:sp>
      <p:sp>
        <p:nvSpPr>
          <p:cNvPr id="58" name="Shape 56"/>
          <p:cNvSpPr/>
          <p:nvPr/>
        </p:nvSpPr>
        <p:spPr>
          <a:xfrm>
            <a:off x="12420600" y="9001571"/>
            <a:ext cx="304800" cy="304800"/>
          </a:xfrm>
          <a:prstGeom prst="roundRect">
            <a:avLst>
              <a:gd name="adj" fmla="val 31250"/>
            </a:avLst>
          </a:prstGeom>
          <a:solidFill>
            <a:srgbClr val="F2E63A"/>
          </a:solidFill>
          <a:ln/>
        </p:spPr>
      </p:sp>
      <p:sp>
        <p:nvSpPr>
          <p:cNvPr id="59" name="Text 57"/>
          <p:cNvSpPr/>
          <p:nvPr/>
        </p:nvSpPr>
        <p:spPr>
          <a:xfrm>
            <a:off x="12272293" y="9420671"/>
            <a:ext cx="60141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E63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Home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13906500" y="9001571"/>
            <a:ext cx="381000" cy="381000"/>
          </a:xfrm>
          <a:prstGeom prst="roundRect">
            <a:avLst>
              <a:gd name="adj" fmla="val 25000"/>
            </a:avLst>
          </a:prstGeom>
          <a:ln w="38100">
            <a:solidFill>
              <a:srgbClr val="4A5A8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622462" y="9496871"/>
            <a:ext cx="9490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D8AB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Pronostici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15430500" y="9001571"/>
            <a:ext cx="381000" cy="381000"/>
          </a:xfrm>
          <a:prstGeom prst="ellipse">
            <a:avLst/>
          </a:prstGeom>
          <a:ln w="38100">
            <a:solidFill>
              <a:srgbClr val="4A5A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5316870" y="9496871"/>
            <a:ext cx="60826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D8AB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Leghe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16992600" y="9001571"/>
            <a:ext cx="304800" cy="304800"/>
          </a:xfrm>
          <a:prstGeom prst="ellipse">
            <a:avLst/>
          </a:prstGeom>
          <a:solidFill>
            <a:srgbClr val="4A5A88"/>
          </a:solidFill>
          <a:ln/>
        </p:spPr>
      </p:sp>
      <p:sp>
        <p:nvSpPr>
          <p:cNvPr id="65" name="Text 63"/>
          <p:cNvSpPr/>
          <p:nvPr/>
        </p:nvSpPr>
        <p:spPr>
          <a:xfrm>
            <a:off x="16691000" y="9420671"/>
            <a:ext cx="90792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D8AB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Classifica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045369"/>
            <a:ext cx="565100" cy="461963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3" name="Text 1"/>
          <p:cNvSpPr/>
          <p:nvPr/>
        </p:nvSpPr>
        <p:spPr>
          <a:xfrm>
            <a:off x="933450" y="1121569"/>
            <a:ext cx="3746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65" kern="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1a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574750" y="914400"/>
            <a:ext cx="3697248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121"/>
              </a:lnSpc>
              <a:buNone/>
            </a:pPr>
            <a:r>
              <a:rPr lang="en-US" sz="5700" spc="-171" kern="0" dirty="0">
                <a:solidFill>
                  <a:srgbClr val="17171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Notturna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800100" y="1847850"/>
            <a:ext cx="1227162" cy="438150"/>
          </a:xfrm>
          <a:prstGeom prst="roundRect">
            <a:avLst>
              <a:gd name="adj" fmla="val 50000"/>
            </a:avLst>
          </a:prstGeom>
          <a:ln w="19050">
            <a:solidFill>
              <a:srgbClr val="1717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9650" y="1943100"/>
            <a:ext cx="8842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elettrica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60612" y="1847850"/>
            <a:ext cx="1271290" cy="438150"/>
          </a:xfrm>
          <a:prstGeom prst="roundRect">
            <a:avLst>
              <a:gd name="adj" fmla="val 50000"/>
            </a:avLst>
          </a:prstGeom>
          <a:ln w="19050">
            <a:solidFill>
              <a:srgbClr val="1717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0162" y="1943100"/>
            <a:ext cx="9283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notturna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565252" y="1847850"/>
            <a:ext cx="1595512" cy="438150"/>
          </a:xfrm>
          <a:prstGeom prst="roundRect">
            <a:avLst>
              <a:gd name="adj" fmla="val 50000"/>
            </a:avLst>
          </a:prstGeom>
          <a:ln w="19050">
            <a:solidFill>
              <a:srgbClr val="1717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74802" y="1943100"/>
            <a:ext cx="125261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competitiva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0100" y="2495550"/>
            <a:ext cx="932021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55"/>
              </a:lnSpc>
              <a:buNone/>
            </a:pPr>
            <a:r>
              <a:rPr lang="en-US" sz="2025" dirty="0">
                <a:solidFill>
                  <a:srgbClr val="55534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 stadio alle 20:45. Fondo profondo, verde acido come luce dei riflettori, numeri enormi. La direzione più vicina al riferimento Fantamondiale.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800100" y="3705225"/>
            <a:ext cx="1081278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8" kern="0" dirty="0">
                <a:solidFill>
                  <a:srgbClr val="8A888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PALETTE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800100" y="4148137"/>
            <a:ext cx="2314575" cy="1238250"/>
          </a:xfrm>
          <a:prstGeom prst="rect">
            <a:avLst/>
          </a:prstGeom>
          <a:solidFill>
            <a:srgbClr val="101A33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" y="5481638"/>
            <a:ext cx="25460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#101A33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0100" y="5857875"/>
            <a:ext cx="25460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Primario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3305175" y="4148137"/>
            <a:ext cx="2314575" cy="1238250"/>
          </a:xfrm>
          <a:prstGeom prst="rect">
            <a:avLst/>
          </a:prstGeom>
          <a:solidFill>
            <a:srgbClr val="23366B"/>
          </a:solidFill>
          <a:ln/>
        </p:spPr>
      </p:sp>
      <p:sp>
        <p:nvSpPr>
          <p:cNvPr id="17" name="Text 15"/>
          <p:cNvSpPr/>
          <p:nvPr/>
        </p:nvSpPr>
        <p:spPr>
          <a:xfrm>
            <a:off x="3305175" y="5481638"/>
            <a:ext cx="25460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#23366B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05175" y="5857875"/>
            <a:ext cx="25460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Secondario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5810250" y="4148137"/>
            <a:ext cx="2314575" cy="1238250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20" name="Text 18"/>
          <p:cNvSpPr/>
          <p:nvPr/>
        </p:nvSpPr>
        <p:spPr>
          <a:xfrm>
            <a:off x="5810250" y="5481638"/>
            <a:ext cx="25460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#C6FF3D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10250" y="5857875"/>
            <a:ext cx="25460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Accento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8315325" y="4148137"/>
            <a:ext cx="2314575" cy="1238250"/>
          </a:xfrm>
          <a:prstGeom prst="rect">
            <a:avLst/>
          </a:prstGeom>
          <a:solidFill>
            <a:srgbClr val="05070E"/>
          </a:solidFill>
          <a:ln/>
        </p:spPr>
      </p:sp>
      <p:sp>
        <p:nvSpPr>
          <p:cNvPr id="23" name="Text 21"/>
          <p:cNvSpPr/>
          <p:nvPr/>
        </p:nvSpPr>
        <p:spPr>
          <a:xfrm>
            <a:off x="8315325" y="5481638"/>
            <a:ext cx="25460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#05070E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15325" y="5857875"/>
            <a:ext cx="25460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Sfondo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800100" y="6491288"/>
            <a:ext cx="9829800" cy="19050"/>
          </a:xfrm>
          <a:prstGeom prst="rect">
            <a:avLst/>
          </a:prstGeom>
          <a:solidFill>
            <a:srgbClr val="D8D5CD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" y="6834188"/>
            <a:ext cx="1081278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8" kern="0" dirty="0">
                <a:solidFill>
                  <a:srgbClr val="8A888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ARCHIVO BLACK + ARCHIVO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800100" y="7239000"/>
            <a:ext cx="1081278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03"/>
              </a:lnSpc>
              <a:buNone/>
            </a:pPr>
            <a:r>
              <a:rPr lang="en-US" sz="6300" spc="-189" kern="0" dirty="0">
                <a:solidFill>
                  <a:srgbClr val="101A3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Milan–Inter </a:t>
            </a:r>
            <a:pPr algn="l" indent="0" marL="0">
              <a:lnSpc>
                <a:spcPct val="91803"/>
              </a:lnSpc>
              <a:buNone/>
            </a:pPr>
            <a:r>
              <a:rPr lang="en-US" sz="6300" spc="-189" kern="0" dirty="0">
                <a:solidFill>
                  <a:srgbClr val="6F8A1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1-2</a:t>
            </a:r>
            <a:endParaRPr lang="en-US" sz="6300" dirty="0"/>
          </a:p>
        </p:txBody>
      </p:sp>
      <p:sp>
        <p:nvSpPr>
          <p:cNvPr id="28" name="Text 26"/>
          <p:cNvSpPr/>
          <p:nvPr/>
        </p:nvSpPr>
        <p:spPr>
          <a:xfrm>
            <a:off x="800100" y="8172450"/>
            <a:ext cx="882967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404"/>
              </a:lnSpc>
              <a:buNone/>
            </a:pPr>
            <a:r>
              <a:rPr lang="en-US" sz="1950" dirty="0">
                <a:solidFill>
                  <a:srgbClr val="3C3B3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Testo corpo in Archivo Regular. Pronostica il risultato esatto entro il fischio d'inizio e sali in classifica.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1430000" y="0"/>
            <a:ext cx="6858000" cy="10287000"/>
          </a:xfrm>
          <a:prstGeom prst="rect">
            <a:avLst/>
          </a:prstGeom>
          <a:solidFill>
            <a:srgbClr val="DEDAD1"/>
          </a:solidFill>
          <a:ln/>
        </p:spPr>
      </p:sp>
      <p:sp>
        <p:nvSpPr>
          <p:cNvPr id="30" name="Shape 28"/>
          <p:cNvSpPr/>
          <p:nvPr/>
        </p:nvSpPr>
        <p:spPr>
          <a:xfrm>
            <a:off x="11544300" y="631254"/>
            <a:ext cx="6629400" cy="9024417"/>
          </a:xfrm>
          <a:prstGeom prst="roundRect">
            <a:avLst>
              <a:gd name="adj" fmla="val 7471"/>
            </a:avLst>
          </a:prstGeom>
          <a:solidFill>
            <a:srgbClr val="05070E"/>
          </a:solidFill>
          <a:ln/>
          <a:effectLst>
            <a:outerShdw sx="100000" sy="100000" kx="0" ky="0" algn="bl" rotWithShape="0" blurRad="762000" dist="342900" dir="54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1963400" y="974154"/>
            <a:ext cx="71742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89A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20:45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6215643" y="974154"/>
            <a:ext cx="169285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89A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Serie A · G3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1811000" y="1512317"/>
            <a:ext cx="6096000" cy="2904604"/>
          </a:xfrm>
          <a:prstGeom prst="roundRect">
            <a:avLst>
              <a:gd name="adj" fmla="val 10494"/>
            </a:avLst>
          </a:prstGeom>
          <a:gradFill rotWithShape="1">
            <a:gsLst>
              <a:gs pos="0">
                <a:srgbClr val="23366B">
                  <a:alpha val="100000"/>
                </a:srgbClr>
              </a:gs>
              <a:gs pos="70000">
                <a:srgbClr val="101A33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4" name="Text 32"/>
          <p:cNvSpPr/>
          <p:nvPr/>
        </p:nvSpPr>
        <p:spPr>
          <a:xfrm>
            <a:off x="12153900" y="1855217"/>
            <a:ext cx="307375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C6FF3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CHIUDE TRA 04:12:33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7411700" y="1919511"/>
            <a:ext cx="152400" cy="15240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36" name="Text 34"/>
          <p:cNvSpPr/>
          <p:nvPr/>
        </p:nvSpPr>
        <p:spPr>
          <a:xfrm>
            <a:off x="12153900" y="2402904"/>
            <a:ext cx="5572506" cy="1083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967"/>
              </a:lnSpc>
              <a:buNone/>
            </a:pPr>
            <a:r>
              <a:rPr lang="en-US" sz="4200" spc="-84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Il big match è aperto</a:t>
            </a:r>
            <a:endParaRPr lang="en-US" sz="4200" dirty="0"/>
          </a:p>
        </p:txBody>
      </p:sp>
      <p:sp>
        <p:nvSpPr>
          <p:cNvPr id="37" name="Text 35"/>
          <p:cNvSpPr/>
          <p:nvPr/>
        </p:nvSpPr>
        <p:spPr>
          <a:xfrm>
            <a:off x="12153900" y="3714973"/>
            <a:ext cx="5951220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81"/>
              </a:lnSpc>
              <a:buNone/>
            </a:pPr>
            <a:r>
              <a:rPr lang="en-US" sz="1950" dirty="0">
                <a:solidFill>
                  <a:srgbClr val="B9C4D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Milan–Inter. 48.219 pronostici già inviati.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1811000" y="4645521"/>
            <a:ext cx="6096000" cy="2376488"/>
          </a:xfrm>
          <a:prstGeom prst="roundRect">
            <a:avLst>
              <a:gd name="adj" fmla="val 12826"/>
            </a:avLst>
          </a:prstGeom>
          <a:solidFill>
            <a:srgbClr val="0D1425"/>
          </a:solidFill>
          <a:ln w="19050">
            <a:solidFill>
              <a:srgbClr val="1C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134850" y="4969371"/>
            <a:ext cx="242660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7C89A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 TUA STAGIONE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6320939" y="4997946"/>
            <a:ext cx="13884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6FF3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#312 / 48.219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2134850" y="5517059"/>
            <a:ext cx="1857955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spc="-78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68</a:t>
            </a:r>
            <a:pPr algn="l" indent="0" marL="0">
              <a:buNone/>
            </a:pPr>
            <a:r>
              <a:rPr lang="en-US" sz="2100" spc="-78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%</a:t>
            </a:r>
            <a:endParaRPr lang="en-US" sz="3900" dirty="0"/>
          </a:p>
        </p:txBody>
      </p:sp>
      <p:sp>
        <p:nvSpPr>
          <p:cNvPr id="42" name="Text 40"/>
          <p:cNvSpPr/>
          <p:nvPr/>
        </p:nvSpPr>
        <p:spPr>
          <a:xfrm>
            <a:off x="12134850" y="6112371"/>
            <a:ext cx="185795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7C89A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PRECISIONE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4014400" y="5517059"/>
            <a:ext cx="1858037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spc="-78" kern="0" dirty="0">
                <a:solidFill>
                  <a:srgbClr val="C6FF3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5</a:t>
            </a:r>
            <a:endParaRPr lang="en-US" sz="3900" dirty="0"/>
          </a:p>
        </p:txBody>
      </p:sp>
      <p:sp>
        <p:nvSpPr>
          <p:cNvPr id="44" name="Text 42"/>
          <p:cNvSpPr/>
          <p:nvPr/>
        </p:nvSpPr>
        <p:spPr>
          <a:xfrm>
            <a:off x="14014400" y="6112371"/>
            <a:ext cx="18580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7C89A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SERIE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5894025" y="5517059"/>
            <a:ext cx="1857955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spc="-78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1.240</a:t>
            </a:r>
            <a:endParaRPr lang="en-US" sz="3900" dirty="0"/>
          </a:p>
        </p:txBody>
      </p:sp>
      <p:sp>
        <p:nvSpPr>
          <p:cNvPr id="46" name="Text 44"/>
          <p:cNvSpPr/>
          <p:nvPr/>
        </p:nvSpPr>
        <p:spPr>
          <a:xfrm>
            <a:off x="15894025" y="6112371"/>
            <a:ext cx="185795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7C89A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PUNTI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12134850" y="6583859"/>
            <a:ext cx="5448300" cy="114300"/>
          </a:xfrm>
          <a:prstGeom prst="roundRect">
            <a:avLst>
              <a:gd name="adj" fmla="val 50000"/>
            </a:avLst>
          </a:prstGeom>
          <a:solidFill>
            <a:srgbClr val="1C2A4A"/>
          </a:solidFill>
          <a:ln/>
        </p:spPr>
      </p:sp>
      <p:sp>
        <p:nvSpPr>
          <p:cNvPr id="48" name="Shape 46"/>
          <p:cNvSpPr/>
          <p:nvPr/>
        </p:nvSpPr>
        <p:spPr>
          <a:xfrm>
            <a:off x="12134850" y="6583859"/>
            <a:ext cx="3704779" cy="114300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49" name="Shape 47"/>
          <p:cNvSpPr/>
          <p:nvPr/>
        </p:nvSpPr>
        <p:spPr>
          <a:xfrm>
            <a:off x="11811000" y="7250609"/>
            <a:ext cx="6096000" cy="885825"/>
          </a:xfrm>
          <a:prstGeom prst="roundRect">
            <a:avLst>
              <a:gd name="adj" fmla="val 50000"/>
            </a:avLst>
          </a:prstGeom>
          <a:solidFill>
            <a:srgbClr val="C6FF3D"/>
          </a:solidFill>
          <a:ln/>
        </p:spPr>
      </p:sp>
      <p:sp>
        <p:nvSpPr>
          <p:cNvPr id="50" name="Text 48"/>
          <p:cNvSpPr/>
          <p:nvPr/>
        </p:nvSpPr>
        <p:spPr>
          <a:xfrm>
            <a:off x="12005310" y="7536359"/>
            <a:ext cx="57073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spc="22" kern="0" dirty="0">
                <a:solidFill>
                  <a:srgbClr val="05070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Conferma pronostico</a:t>
            </a:r>
            <a:endParaRPr lang="en-US" sz="2250" dirty="0"/>
          </a:p>
        </p:txBody>
      </p:sp>
      <p:sp>
        <p:nvSpPr>
          <p:cNvPr id="51" name="Shape 49"/>
          <p:cNvSpPr/>
          <p:nvPr/>
        </p:nvSpPr>
        <p:spPr>
          <a:xfrm>
            <a:off x="11544300" y="8403134"/>
            <a:ext cx="6629400" cy="19050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52" name="Shape 50"/>
          <p:cNvSpPr/>
          <p:nvPr/>
        </p:nvSpPr>
        <p:spPr>
          <a:xfrm>
            <a:off x="12420600" y="8650784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C6FF3D"/>
          </a:solidFill>
          <a:ln/>
        </p:spPr>
      </p:sp>
      <p:sp>
        <p:nvSpPr>
          <p:cNvPr id="53" name="Text 51"/>
          <p:cNvSpPr/>
          <p:nvPr/>
        </p:nvSpPr>
        <p:spPr>
          <a:xfrm>
            <a:off x="12332419" y="9069884"/>
            <a:ext cx="4811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C6FF3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Oggi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13906500" y="8650784"/>
            <a:ext cx="381000" cy="381000"/>
          </a:xfrm>
          <a:prstGeom prst="roundRect">
            <a:avLst>
              <a:gd name="adj" fmla="val 20000"/>
            </a:avLst>
          </a:prstGeom>
          <a:ln w="38100">
            <a:solidFill>
              <a:srgbClr val="46527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96888" y="9146084"/>
            <a:ext cx="60014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C89A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Leghe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15430500" y="8650784"/>
            <a:ext cx="381000" cy="381000"/>
          </a:xfrm>
          <a:prstGeom prst="ellipse">
            <a:avLst/>
          </a:prstGeom>
          <a:ln w="38100">
            <a:solidFill>
              <a:srgbClr val="46527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5172134" y="9146084"/>
            <a:ext cx="89765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C89A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Classifica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16992600" y="8650784"/>
            <a:ext cx="304800" cy="304800"/>
          </a:xfrm>
          <a:prstGeom prst="ellipse">
            <a:avLst/>
          </a:prstGeom>
          <a:solidFill>
            <a:srgbClr val="46527A"/>
          </a:solidFill>
          <a:ln/>
        </p:spPr>
      </p:sp>
      <p:sp>
        <p:nvSpPr>
          <p:cNvPr id="59" name="Text 57"/>
          <p:cNvSpPr/>
          <p:nvPr/>
        </p:nvSpPr>
        <p:spPr>
          <a:xfrm>
            <a:off x="16834768" y="9069884"/>
            <a:ext cx="62046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C89A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Profilo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00100"/>
            <a:ext cx="565100" cy="461963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3" name="Text 1"/>
          <p:cNvSpPr/>
          <p:nvPr/>
        </p:nvSpPr>
        <p:spPr>
          <a:xfrm>
            <a:off x="819150" y="876300"/>
            <a:ext cx="3746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65" kern="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3a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403300" y="890588"/>
            <a:ext cx="168736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8A888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DOPPIO TEMA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452563"/>
            <a:ext cx="3610356" cy="1046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95"/>
              </a:lnSpc>
              <a:buNone/>
            </a:pPr>
            <a:r>
              <a:rPr lang="en-US" sz="4050" spc="-122" kern="0" dirty="0">
                <a:solidFill>
                  <a:srgbClr val="17171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Notturna Giorno</a:t>
            </a:r>
            <a:endParaRPr lang="en-US" sz="4050" dirty="0"/>
          </a:p>
        </p:txBody>
      </p:sp>
      <p:sp>
        <p:nvSpPr>
          <p:cNvPr id="6" name="Shape 4"/>
          <p:cNvSpPr/>
          <p:nvPr/>
        </p:nvSpPr>
        <p:spPr>
          <a:xfrm>
            <a:off x="685800" y="2651075"/>
            <a:ext cx="950491" cy="381000"/>
          </a:xfrm>
          <a:prstGeom prst="roundRect">
            <a:avLst>
              <a:gd name="adj" fmla="val 50000"/>
            </a:avLst>
          </a:prstGeom>
          <a:ln w="19050">
            <a:solidFill>
              <a:srgbClr val="1717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300" y="2727275"/>
            <a:ext cx="64569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chiara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750591" y="2651075"/>
            <a:ext cx="888504" cy="381000"/>
          </a:xfrm>
          <a:prstGeom prst="roundRect">
            <a:avLst>
              <a:gd name="adj" fmla="val 50000"/>
            </a:avLst>
          </a:prstGeom>
          <a:ln w="19050">
            <a:solidFill>
              <a:srgbClr val="1717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41091" y="2727275"/>
            <a:ext cx="58370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nitida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85800" y="3146375"/>
            <a:ext cx="1459334" cy="381000"/>
          </a:xfrm>
          <a:prstGeom prst="roundRect">
            <a:avLst>
              <a:gd name="adj" fmla="val 50000"/>
            </a:avLst>
          </a:prstGeom>
          <a:ln w="19050">
            <a:solidFill>
              <a:srgbClr val="1717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6300" y="3222575"/>
            <a:ext cx="115453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competitiva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85800" y="3717875"/>
            <a:ext cx="3610356" cy="2181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364"/>
              </a:lnSpc>
              <a:buNone/>
            </a:pPr>
            <a:r>
              <a:rPr lang="en-US" sz="1875" dirty="0">
                <a:solidFill>
                  <a:srgbClr val="55534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Stessa identità di 1a ribaltata su superficie chiara: il blu passa da sfondo a inchiostro, il verde acido resta l'unico accento e vive solo in campiture con testo scuro sopra.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685800" y="6242000"/>
            <a:ext cx="3505200" cy="19050"/>
          </a:xfrm>
          <a:prstGeom prst="rect">
            <a:avLst/>
          </a:prstGeom>
          <a:solidFill>
            <a:srgbClr val="D8D5CD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6565850"/>
            <a:ext cx="385572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8" kern="0" dirty="0">
                <a:solidFill>
                  <a:srgbClr val="8A888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PALETTE · TEMA CHIARO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685800" y="6989713"/>
            <a:ext cx="609600" cy="457200"/>
          </a:xfrm>
          <a:prstGeom prst="rect">
            <a:avLst/>
          </a:prstGeom>
          <a:solidFill>
            <a:srgbClr val="101A33"/>
          </a:solidFill>
          <a:ln/>
        </p:spPr>
      </p:sp>
      <p:sp>
        <p:nvSpPr>
          <p:cNvPr id="16" name="Text 14"/>
          <p:cNvSpPr/>
          <p:nvPr/>
        </p:nvSpPr>
        <p:spPr>
          <a:xfrm>
            <a:off x="1447800" y="7070675"/>
            <a:ext cx="93315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#101A33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2457152" y="7115919"/>
            <a:ext cx="91529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Inchiostro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" y="7561213"/>
            <a:ext cx="609600" cy="457200"/>
          </a:xfrm>
          <a:prstGeom prst="rect">
            <a:avLst/>
          </a:prstGeom>
          <a:solidFill>
            <a:srgbClr val="23366B"/>
          </a:solidFill>
          <a:ln/>
        </p:spPr>
      </p:sp>
      <p:sp>
        <p:nvSpPr>
          <p:cNvPr id="19" name="Text 17"/>
          <p:cNvSpPr/>
          <p:nvPr/>
        </p:nvSpPr>
        <p:spPr>
          <a:xfrm>
            <a:off x="1447800" y="7642175"/>
            <a:ext cx="93315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#23366B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2457152" y="7687419"/>
            <a:ext cx="104946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Secondario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85800" y="8132713"/>
            <a:ext cx="609600" cy="457200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22" name="Text 20"/>
          <p:cNvSpPr/>
          <p:nvPr/>
        </p:nvSpPr>
        <p:spPr>
          <a:xfrm>
            <a:off x="1447800" y="8213675"/>
            <a:ext cx="93315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#C6FF3D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2457152" y="8258919"/>
            <a:ext cx="78030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Accento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5800" y="8704213"/>
            <a:ext cx="628650" cy="476250"/>
          </a:xfrm>
          <a:prstGeom prst="rect">
            <a:avLst/>
          </a:prstGeom>
          <a:solidFill>
            <a:srgbClr val="EEF2FA"/>
          </a:solidFill>
          <a:ln w="9525">
            <a:solidFill>
              <a:srgbClr val="D8D5C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66850" y="8794700"/>
            <a:ext cx="93315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#EEF2FA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2476202" y="8839944"/>
            <a:ext cx="6890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Sfondo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85800" y="9294763"/>
            <a:ext cx="6286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66850" y="9385250"/>
            <a:ext cx="93315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#FFFFFF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2476202" y="9430494"/>
            <a:ext cx="92935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Superficie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5800" y="9923413"/>
            <a:ext cx="3610356" cy="927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91"/>
              </a:lnSpc>
              <a:buNone/>
            </a:pPr>
            <a:r>
              <a:rPr lang="en-US" sz="1575" dirty="0">
                <a:solidFill>
                  <a:srgbClr val="55534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Bordi </a:t>
            </a:r>
            <a:pPr algn="l" indent="0" marL="0">
              <a:lnSpc>
                <a:spcPct val="132391"/>
              </a:lnSpc>
              <a:buNone/>
            </a:pPr>
            <a:r>
              <a:rPr lang="en-US" sz="1575" dirty="0">
                <a:solidFill>
                  <a:srgbClr val="55534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#D7DEEE </a:t>
            </a:r>
            <a:pPr algn="l" indent="0" marL="0">
              <a:lnSpc>
                <a:spcPct val="132391"/>
              </a:lnSpc>
              <a:buNone/>
            </a:pPr>
            <a:r>
              <a:rPr lang="en-US" sz="1575" dirty="0">
                <a:solidFill>
                  <a:srgbClr val="55534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· testo secondario </a:t>
            </a:r>
            <a:pPr algn="l" indent="0" marL="0">
              <a:lnSpc>
                <a:spcPct val="132391"/>
              </a:lnSpc>
              <a:buNone/>
            </a:pPr>
            <a:r>
              <a:rPr lang="en-US" sz="1575" dirty="0">
                <a:solidFill>
                  <a:srgbClr val="55534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#5B6785 </a:t>
            </a:r>
            <a:pPr algn="l" indent="0" marL="0">
              <a:lnSpc>
                <a:spcPct val="132391"/>
              </a:lnSpc>
              <a:buNone/>
            </a:pPr>
            <a:r>
              <a:rPr lang="en-US" sz="1575" dirty="0">
                <a:solidFill>
                  <a:srgbClr val="55534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 Tipografia invariata: Archivo Black + Archivo.</a:t>
            </a:r>
            <a:endParaRPr lang="en-US" sz="1575" dirty="0"/>
          </a:p>
        </p:txBody>
      </p:sp>
      <p:sp>
        <p:nvSpPr>
          <p:cNvPr id="31" name="Shape 29"/>
          <p:cNvSpPr/>
          <p:nvPr/>
        </p:nvSpPr>
        <p:spPr>
          <a:xfrm>
            <a:off x="4572000" y="0"/>
            <a:ext cx="13716000" cy="11612538"/>
          </a:xfrm>
          <a:prstGeom prst="rect">
            <a:avLst/>
          </a:prstGeom>
          <a:solidFill>
            <a:srgbClr val="DEDAD1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0" y="1036886"/>
            <a:ext cx="6629400" cy="9048229"/>
          </a:xfrm>
          <a:prstGeom prst="roundRect">
            <a:avLst>
              <a:gd name="adj" fmla="val 7471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0" dist="342900" dir="5400000">
              <a:srgbClr val="101A33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91100" y="1379786"/>
            <a:ext cx="71742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678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15:00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9243343" y="1379786"/>
            <a:ext cx="169285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678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Serie A · G3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4838700" y="1917948"/>
            <a:ext cx="6096000" cy="2904604"/>
          </a:xfrm>
          <a:prstGeom prst="roundRect">
            <a:avLst>
              <a:gd name="adj" fmla="val 10494"/>
            </a:avLst>
          </a:prstGeom>
          <a:gradFill rotWithShape="1">
            <a:gsLst>
              <a:gs pos="0">
                <a:srgbClr val="23366B">
                  <a:alpha val="100000"/>
                </a:srgbClr>
              </a:gs>
              <a:gs pos="70000">
                <a:srgbClr val="101A33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6" name="Text 34"/>
          <p:cNvSpPr/>
          <p:nvPr/>
        </p:nvSpPr>
        <p:spPr>
          <a:xfrm>
            <a:off x="5181600" y="2260848"/>
            <a:ext cx="307375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C6FF3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CHIUDE TRA 04:12:33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0439400" y="2325142"/>
            <a:ext cx="152400" cy="15240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38" name="Text 36"/>
          <p:cNvSpPr/>
          <p:nvPr/>
        </p:nvSpPr>
        <p:spPr>
          <a:xfrm>
            <a:off x="5181600" y="2808536"/>
            <a:ext cx="5572506" cy="1083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967"/>
              </a:lnSpc>
              <a:buNone/>
            </a:pPr>
            <a:r>
              <a:rPr lang="en-US" sz="4200" spc="-84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Il big match è aperto</a:t>
            </a:r>
            <a:endParaRPr lang="en-US" sz="4200" dirty="0"/>
          </a:p>
        </p:txBody>
      </p:sp>
      <p:sp>
        <p:nvSpPr>
          <p:cNvPr id="39" name="Text 37"/>
          <p:cNvSpPr/>
          <p:nvPr/>
        </p:nvSpPr>
        <p:spPr>
          <a:xfrm>
            <a:off x="5181600" y="4120604"/>
            <a:ext cx="5951220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81"/>
              </a:lnSpc>
              <a:buNone/>
            </a:pPr>
            <a:r>
              <a:rPr lang="en-US" sz="1950" dirty="0">
                <a:solidFill>
                  <a:srgbClr val="B9C4D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Milan–Inter. 48.219 pronostici già inviati.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4838700" y="5051152"/>
            <a:ext cx="6096000" cy="240030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9050">
            <a:solidFill>
              <a:srgbClr val="D7DE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62550" y="5384527"/>
            <a:ext cx="242660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5B678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 TUA STAGIONE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9048601" y="5375002"/>
            <a:ext cx="1562249" cy="304800"/>
          </a:xfrm>
          <a:prstGeom prst="roundRect">
            <a:avLst>
              <a:gd name="adj" fmla="val 50000"/>
            </a:avLst>
          </a:prstGeom>
          <a:solidFill>
            <a:srgbClr val="C6FF3D"/>
          </a:solidFill>
          <a:ln/>
        </p:spPr>
      </p:sp>
      <p:sp>
        <p:nvSpPr>
          <p:cNvPr id="43" name="Text 41"/>
          <p:cNvSpPr/>
          <p:nvPr/>
        </p:nvSpPr>
        <p:spPr>
          <a:xfrm>
            <a:off x="9162901" y="5413102"/>
            <a:ext cx="148987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01A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#312 / 48.219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5162550" y="5946502"/>
            <a:ext cx="1857955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spc="-78" kern="0" dirty="0">
                <a:solidFill>
                  <a:srgbClr val="101A3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68</a:t>
            </a:r>
            <a:pPr algn="l" indent="0" marL="0">
              <a:buNone/>
            </a:pPr>
            <a:r>
              <a:rPr lang="en-US" sz="2100" spc="-78" kern="0" dirty="0">
                <a:solidFill>
                  <a:srgbClr val="101A3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%</a:t>
            </a:r>
            <a:endParaRPr lang="en-US" sz="3900" dirty="0"/>
          </a:p>
        </p:txBody>
      </p:sp>
      <p:sp>
        <p:nvSpPr>
          <p:cNvPr id="45" name="Text 43"/>
          <p:cNvSpPr/>
          <p:nvPr/>
        </p:nvSpPr>
        <p:spPr>
          <a:xfrm>
            <a:off x="5162550" y="6541815"/>
            <a:ext cx="185795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5B67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PRECISIONE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042100" y="5946502"/>
            <a:ext cx="1858037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spc="-78" kern="0" dirty="0">
                <a:solidFill>
                  <a:srgbClr val="23366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5</a:t>
            </a:r>
            <a:endParaRPr lang="en-US" sz="3900" dirty="0"/>
          </a:p>
        </p:txBody>
      </p:sp>
      <p:sp>
        <p:nvSpPr>
          <p:cNvPr id="47" name="Text 45"/>
          <p:cNvSpPr/>
          <p:nvPr/>
        </p:nvSpPr>
        <p:spPr>
          <a:xfrm>
            <a:off x="7042100" y="6541815"/>
            <a:ext cx="18580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5B67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SERIE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921725" y="5946502"/>
            <a:ext cx="1857955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spc="-78" kern="0" dirty="0">
                <a:solidFill>
                  <a:srgbClr val="101A3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1.240</a:t>
            </a:r>
            <a:endParaRPr lang="en-US" sz="3900" dirty="0"/>
          </a:p>
        </p:txBody>
      </p:sp>
      <p:sp>
        <p:nvSpPr>
          <p:cNvPr id="49" name="Text 47"/>
          <p:cNvSpPr/>
          <p:nvPr/>
        </p:nvSpPr>
        <p:spPr>
          <a:xfrm>
            <a:off x="8921725" y="6541815"/>
            <a:ext cx="185795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5B67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PUNTI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5162550" y="7013302"/>
            <a:ext cx="5448300" cy="114300"/>
          </a:xfrm>
          <a:prstGeom prst="roundRect">
            <a:avLst>
              <a:gd name="adj" fmla="val 50000"/>
            </a:avLst>
          </a:prstGeom>
          <a:solidFill>
            <a:srgbClr val="E1E7F4"/>
          </a:solidFill>
          <a:ln/>
        </p:spPr>
      </p:sp>
      <p:sp>
        <p:nvSpPr>
          <p:cNvPr id="51" name="Shape 49"/>
          <p:cNvSpPr/>
          <p:nvPr/>
        </p:nvSpPr>
        <p:spPr>
          <a:xfrm>
            <a:off x="5162550" y="7013302"/>
            <a:ext cx="3704779" cy="114300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52" name="Shape 50"/>
          <p:cNvSpPr/>
          <p:nvPr/>
        </p:nvSpPr>
        <p:spPr>
          <a:xfrm>
            <a:off x="4838700" y="7680052"/>
            <a:ext cx="6096000" cy="885825"/>
          </a:xfrm>
          <a:prstGeom prst="roundRect">
            <a:avLst>
              <a:gd name="adj" fmla="val 50000"/>
            </a:avLst>
          </a:prstGeom>
          <a:solidFill>
            <a:srgbClr val="C6FF3D"/>
          </a:solidFill>
          <a:ln/>
        </p:spPr>
      </p:sp>
      <p:sp>
        <p:nvSpPr>
          <p:cNvPr id="53" name="Text 51"/>
          <p:cNvSpPr/>
          <p:nvPr/>
        </p:nvSpPr>
        <p:spPr>
          <a:xfrm>
            <a:off x="5033010" y="7965802"/>
            <a:ext cx="57073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spc="22" kern="0" dirty="0">
                <a:solidFill>
                  <a:srgbClr val="101A3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Conferma pronostico</a:t>
            </a:r>
            <a:endParaRPr lang="en-US" sz="2250" dirty="0"/>
          </a:p>
        </p:txBody>
      </p:sp>
      <p:sp>
        <p:nvSpPr>
          <p:cNvPr id="54" name="Shape 52"/>
          <p:cNvSpPr/>
          <p:nvPr/>
        </p:nvSpPr>
        <p:spPr>
          <a:xfrm>
            <a:off x="4572000" y="8832577"/>
            <a:ext cx="6629400" cy="1252538"/>
          </a:xfrm>
          <a:custGeom>
            <a:avLst/>
            <a:gdLst/>
            <a:ahLst/>
            <a:cxnLst/>
            <a:rect l="l" t="t" r="r" b="b"/>
            <a:pathLst>
              <a:path w="6629400" h="1252538">
                <a:moveTo>
                  <a:pt x="0" y="0"/>
                </a:moveTo>
                <a:lnTo>
                  <a:pt x="6629400" y="0"/>
                </a:lnTo>
                <a:lnTo>
                  <a:pt x="6629400" y="757238"/>
                </a:lnTo>
                <a:arcTo hR="495300" wR="495300" stAng="0" swAng="5400000"/>
                <a:lnTo>
                  <a:pt x="495300" y="1252538"/>
                </a:lnTo>
                <a:arcTo hR="495300" wR="495300" stAng="5400000" swAng="5400000"/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5" name="Shape 53"/>
          <p:cNvSpPr/>
          <p:nvPr/>
        </p:nvSpPr>
        <p:spPr>
          <a:xfrm>
            <a:off x="4572000" y="8832577"/>
            <a:ext cx="6629400" cy="19050"/>
          </a:xfrm>
          <a:prstGeom prst="rect">
            <a:avLst/>
          </a:prstGeom>
          <a:solidFill>
            <a:srgbClr val="D7DEEE"/>
          </a:solidFill>
          <a:ln/>
        </p:spPr>
      </p:sp>
      <p:sp>
        <p:nvSpPr>
          <p:cNvPr id="56" name="Shape 54"/>
          <p:cNvSpPr/>
          <p:nvPr/>
        </p:nvSpPr>
        <p:spPr>
          <a:xfrm>
            <a:off x="5448300" y="9080227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01A33"/>
          </a:solidFill>
          <a:ln/>
        </p:spPr>
      </p:sp>
      <p:sp>
        <p:nvSpPr>
          <p:cNvPr id="57" name="Text 55"/>
          <p:cNvSpPr/>
          <p:nvPr/>
        </p:nvSpPr>
        <p:spPr>
          <a:xfrm>
            <a:off x="5351487" y="9499327"/>
            <a:ext cx="49835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A3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Oggi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6934200" y="9080227"/>
            <a:ext cx="381000" cy="381000"/>
          </a:xfrm>
          <a:prstGeom prst="roundRect">
            <a:avLst>
              <a:gd name="adj" fmla="val 20000"/>
            </a:avLst>
          </a:prstGeom>
          <a:ln w="38100">
            <a:solidFill>
              <a:srgbClr val="A6B0C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24588" y="9575527"/>
            <a:ext cx="60014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7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Leghe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8458200" y="9080227"/>
            <a:ext cx="381000" cy="381000"/>
          </a:xfrm>
          <a:prstGeom prst="ellipse">
            <a:avLst/>
          </a:prstGeom>
          <a:ln w="38100">
            <a:solidFill>
              <a:srgbClr val="A6B0C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99834" y="9575527"/>
            <a:ext cx="89765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7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Classifica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10020300" y="9080227"/>
            <a:ext cx="304800" cy="304800"/>
          </a:xfrm>
          <a:prstGeom prst="ellipse">
            <a:avLst/>
          </a:prstGeom>
          <a:solidFill>
            <a:srgbClr val="A6B0C8"/>
          </a:solidFill>
          <a:ln/>
        </p:spPr>
      </p:sp>
      <p:sp>
        <p:nvSpPr>
          <p:cNvPr id="63" name="Text 61"/>
          <p:cNvSpPr/>
          <p:nvPr/>
        </p:nvSpPr>
        <p:spPr>
          <a:xfrm>
            <a:off x="9862468" y="9499327"/>
            <a:ext cx="62046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78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Profilo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6740649" y="10294665"/>
            <a:ext cx="252131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6F6B6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TEMA CHIARO · 3A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11658600" y="1048792"/>
            <a:ext cx="6629400" cy="9024417"/>
          </a:xfrm>
          <a:prstGeom prst="roundRect">
            <a:avLst>
              <a:gd name="adj" fmla="val 7471"/>
            </a:avLst>
          </a:prstGeom>
          <a:solidFill>
            <a:srgbClr val="05070E"/>
          </a:solidFill>
          <a:ln/>
          <a:effectLst>
            <a:outerShdw sx="100000" sy="100000" kx="0" ky="0" algn="bl" rotWithShape="0" blurRad="762000" dist="342900" dir="5400000">
              <a:srgbClr val="000000">
                <a:alpha val="28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12077700" y="1391692"/>
            <a:ext cx="71742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89A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20:45</a:t>
            </a:r>
            <a:endParaRPr lang="en-US" sz="1650" dirty="0"/>
          </a:p>
        </p:txBody>
      </p:sp>
      <p:sp>
        <p:nvSpPr>
          <p:cNvPr id="67" name="Text 65"/>
          <p:cNvSpPr/>
          <p:nvPr/>
        </p:nvSpPr>
        <p:spPr>
          <a:xfrm>
            <a:off x="16329943" y="1391692"/>
            <a:ext cx="169285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89A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Serie A · G3</a:t>
            </a:r>
            <a:endParaRPr lang="en-US" sz="1650" dirty="0"/>
          </a:p>
        </p:txBody>
      </p:sp>
      <p:sp>
        <p:nvSpPr>
          <p:cNvPr id="68" name="Shape 66"/>
          <p:cNvSpPr/>
          <p:nvPr/>
        </p:nvSpPr>
        <p:spPr>
          <a:xfrm>
            <a:off x="11925300" y="1929854"/>
            <a:ext cx="6096000" cy="2904604"/>
          </a:xfrm>
          <a:prstGeom prst="roundRect">
            <a:avLst>
              <a:gd name="adj" fmla="val 10494"/>
            </a:avLst>
          </a:prstGeom>
          <a:gradFill rotWithShape="1">
            <a:gsLst>
              <a:gs pos="0">
                <a:srgbClr val="23366B">
                  <a:alpha val="100000"/>
                </a:srgbClr>
              </a:gs>
              <a:gs pos="70000">
                <a:srgbClr val="101A33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69" name="Text 67"/>
          <p:cNvSpPr/>
          <p:nvPr/>
        </p:nvSpPr>
        <p:spPr>
          <a:xfrm>
            <a:off x="12268200" y="2272754"/>
            <a:ext cx="307375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C6FF3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CHIUDE TRA 04:12:33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17526000" y="2337048"/>
            <a:ext cx="152400" cy="15240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71" name="Text 69"/>
          <p:cNvSpPr/>
          <p:nvPr/>
        </p:nvSpPr>
        <p:spPr>
          <a:xfrm>
            <a:off x="12268200" y="2820442"/>
            <a:ext cx="5572506" cy="1083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967"/>
              </a:lnSpc>
              <a:buNone/>
            </a:pPr>
            <a:r>
              <a:rPr lang="en-US" sz="4200" spc="-84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Il big match è aperto</a:t>
            </a:r>
            <a:endParaRPr lang="en-US" sz="4200" dirty="0"/>
          </a:p>
        </p:txBody>
      </p:sp>
      <p:sp>
        <p:nvSpPr>
          <p:cNvPr id="72" name="Text 70"/>
          <p:cNvSpPr/>
          <p:nvPr/>
        </p:nvSpPr>
        <p:spPr>
          <a:xfrm>
            <a:off x="12268200" y="4132511"/>
            <a:ext cx="5951220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81"/>
              </a:lnSpc>
              <a:buNone/>
            </a:pPr>
            <a:r>
              <a:rPr lang="en-US" sz="1950" dirty="0">
                <a:solidFill>
                  <a:srgbClr val="B9C4D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Milan–Inter. 48.219 pronostici già inviati.</a:t>
            </a:r>
            <a:endParaRPr lang="en-US" sz="1950" dirty="0"/>
          </a:p>
        </p:txBody>
      </p:sp>
      <p:sp>
        <p:nvSpPr>
          <p:cNvPr id="73" name="Shape 71"/>
          <p:cNvSpPr/>
          <p:nvPr/>
        </p:nvSpPr>
        <p:spPr>
          <a:xfrm>
            <a:off x="11925300" y="5063058"/>
            <a:ext cx="6096000" cy="2376488"/>
          </a:xfrm>
          <a:prstGeom prst="roundRect">
            <a:avLst>
              <a:gd name="adj" fmla="val 12826"/>
            </a:avLst>
          </a:prstGeom>
          <a:solidFill>
            <a:srgbClr val="0D1425"/>
          </a:solidFill>
          <a:ln w="19050">
            <a:solidFill>
              <a:srgbClr val="1C2A4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2249150" y="5386908"/>
            <a:ext cx="242660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7C89A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 TUA STAGIONE</a:t>
            </a:r>
            <a:endParaRPr lang="en-US" sz="1500" dirty="0"/>
          </a:p>
        </p:txBody>
      </p:sp>
      <p:sp>
        <p:nvSpPr>
          <p:cNvPr id="75" name="Text 73"/>
          <p:cNvSpPr/>
          <p:nvPr/>
        </p:nvSpPr>
        <p:spPr>
          <a:xfrm>
            <a:off x="16435239" y="5415483"/>
            <a:ext cx="13884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6FF3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#312 / 48.219</a:t>
            </a:r>
            <a:endParaRPr lang="en-US" sz="1650" dirty="0"/>
          </a:p>
        </p:txBody>
      </p:sp>
      <p:sp>
        <p:nvSpPr>
          <p:cNvPr id="76" name="Text 74"/>
          <p:cNvSpPr/>
          <p:nvPr/>
        </p:nvSpPr>
        <p:spPr>
          <a:xfrm>
            <a:off x="12249150" y="5934596"/>
            <a:ext cx="1857955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spc="-78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68</a:t>
            </a:r>
            <a:pPr algn="l" indent="0" marL="0">
              <a:buNone/>
            </a:pPr>
            <a:r>
              <a:rPr lang="en-US" sz="2100" spc="-78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%</a:t>
            </a:r>
            <a:endParaRPr lang="en-US" sz="3900" dirty="0"/>
          </a:p>
        </p:txBody>
      </p:sp>
      <p:sp>
        <p:nvSpPr>
          <p:cNvPr id="77" name="Text 75"/>
          <p:cNvSpPr/>
          <p:nvPr/>
        </p:nvSpPr>
        <p:spPr>
          <a:xfrm>
            <a:off x="12249150" y="6529908"/>
            <a:ext cx="185795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7C89A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PRECISIONE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14128700" y="5934596"/>
            <a:ext cx="1858037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spc="-78" kern="0" dirty="0">
                <a:solidFill>
                  <a:srgbClr val="C6FF3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5</a:t>
            </a:r>
            <a:endParaRPr lang="en-US" sz="3900" dirty="0"/>
          </a:p>
        </p:txBody>
      </p:sp>
      <p:sp>
        <p:nvSpPr>
          <p:cNvPr id="79" name="Text 77"/>
          <p:cNvSpPr/>
          <p:nvPr/>
        </p:nvSpPr>
        <p:spPr>
          <a:xfrm>
            <a:off x="14128700" y="6529908"/>
            <a:ext cx="18580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7C89A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SERIE</a:t>
            </a:r>
            <a:endParaRPr lang="en-US" sz="1500" dirty="0"/>
          </a:p>
        </p:txBody>
      </p:sp>
      <p:sp>
        <p:nvSpPr>
          <p:cNvPr id="80" name="Text 78"/>
          <p:cNvSpPr/>
          <p:nvPr/>
        </p:nvSpPr>
        <p:spPr>
          <a:xfrm>
            <a:off x="16008325" y="5934596"/>
            <a:ext cx="1857955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spc="-78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1.240</a:t>
            </a:r>
            <a:endParaRPr lang="en-US" sz="3900" dirty="0"/>
          </a:p>
        </p:txBody>
      </p:sp>
      <p:sp>
        <p:nvSpPr>
          <p:cNvPr id="81" name="Text 79"/>
          <p:cNvSpPr/>
          <p:nvPr/>
        </p:nvSpPr>
        <p:spPr>
          <a:xfrm>
            <a:off x="16008325" y="6529908"/>
            <a:ext cx="185795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7C89A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PUNTI</a:t>
            </a:r>
            <a:endParaRPr lang="en-US" sz="1500" dirty="0"/>
          </a:p>
        </p:txBody>
      </p:sp>
      <p:sp>
        <p:nvSpPr>
          <p:cNvPr id="82" name="Shape 80"/>
          <p:cNvSpPr/>
          <p:nvPr/>
        </p:nvSpPr>
        <p:spPr>
          <a:xfrm>
            <a:off x="12249150" y="7001396"/>
            <a:ext cx="5448300" cy="114300"/>
          </a:xfrm>
          <a:prstGeom prst="roundRect">
            <a:avLst>
              <a:gd name="adj" fmla="val 50000"/>
            </a:avLst>
          </a:prstGeom>
          <a:solidFill>
            <a:srgbClr val="1C2A4A"/>
          </a:solidFill>
          <a:ln/>
        </p:spPr>
      </p:sp>
      <p:sp>
        <p:nvSpPr>
          <p:cNvPr id="83" name="Shape 81"/>
          <p:cNvSpPr/>
          <p:nvPr/>
        </p:nvSpPr>
        <p:spPr>
          <a:xfrm>
            <a:off x="12249150" y="7001396"/>
            <a:ext cx="3704779" cy="114300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84" name="Shape 82"/>
          <p:cNvSpPr/>
          <p:nvPr/>
        </p:nvSpPr>
        <p:spPr>
          <a:xfrm>
            <a:off x="11925300" y="7668146"/>
            <a:ext cx="6096000" cy="885825"/>
          </a:xfrm>
          <a:prstGeom prst="roundRect">
            <a:avLst>
              <a:gd name="adj" fmla="val 50000"/>
            </a:avLst>
          </a:prstGeom>
          <a:solidFill>
            <a:srgbClr val="C6FF3D"/>
          </a:solidFill>
          <a:ln/>
        </p:spPr>
      </p:sp>
      <p:sp>
        <p:nvSpPr>
          <p:cNvPr id="85" name="Text 83"/>
          <p:cNvSpPr/>
          <p:nvPr/>
        </p:nvSpPr>
        <p:spPr>
          <a:xfrm>
            <a:off x="12119610" y="7953896"/>
            <a:ext cx="57073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spc="22" kern="0" dirty="0">
                <a:solidFill>
                  <a:srgbClr val="05070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Conferma pronostico</a:t>
            </a:r>
            <a:endParaRPr lang="en-US" sz="2250" dirty="0"/>
          </a:p>
        </p:txBody>
      </p:sp>
      <p:sp>
        <p:nvSpPr>
          <p:cNvPr id="86" name="Shape 84"/>
          <p:cNvSpPr/>
          <p:nvPr/>
        </p:nvSpPr>
        <p:spPr>
          <a:xfrm>
            <a:off x="11658600" y="8820671"/>
            <a:ext cx="6629400" cy="19050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87" name="Shape 85"/>
          <p:cNvSpPr/>
          <p:nvPr/>
        </p:nvSpPr>
        <p:spPr>
          <a:xfrm>
            <a:off x="12534900" y="9068321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C6FF3D"/>
          </a:solidFill>
          <a:ln/>
        </p:spPr>
      </p:sp>
      <p:sp>
        <p:nvSpPr>
          <p:cNvPr id="88" name="Text 86"/>
          <p:cNvSpPr/>
          <p:nvPr/>
        </p:nvSpPr>
        <p:spPr>
          <a:xfrm>
            <a:off x="12446719" y="9487421"/>
            <a:ext cx="4811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C6FF3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Oggi</a:t>
            </a:r>
            <a:endParaRPr lang="en-US" sz="1500" dirty="0"/>
          </a:p>
        </p:txBody>
      </p:sp>
      <p:sp>
        <p:nvSpPr>
          <p:cNvPr id="89" name="Shape 87"/>
          <p:cNvSpPr/>
          <p:nvPr/>
        </p:nvSpPr>
        <p:spPr>
          <a:xfrm>
            <a:off x="14020800" y="9068321"/>
            <a:ext cx="381000" cy="381000"/>
          </a:xfrm>
          <a:prstGeom prst="roundRect">
            <a:avLst>
              <a:gd name="adj" fmla="val 20000"/>
            </a:avLst>
          </a:prstGeom>
          <a:ln w="38100">
            <a:solidFill>
              <a:srgbClr val="46527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3911188" y="9563621"/>
            <a:ext cx="60014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C89A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Leghe</a:t>
            </a:r>
            <a:endParaRPr lang="en-US" sz="1500" dirty="0"/>
          </a:p>
        </p:txBody>
      </p:sp>
      <p:sp>
        <p:nvSpPr>
          <p:cNvPr id="91" name="Shape 89"/>
          <p:cNvSpPr/>
          <p:nvPr/>
        </p:nvSpPr>
        <p:spPr>
          <a:xfrm>
            <a:off x="15544800" y="9068321"/>
            <a:ext cx="381000" cy="381000"/>
          </a:xfrm>
          <a:prstGeom prst="ellipse">
            <a:avLst/>
          </a:prstGeom>
          <a:ln w="38100">
            <a:solidFill>
              <a:srgbClr val="46527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5286434" y="9563621"/>
            <a:ext cx="89765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C89A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Classifica</a:t>
            </a:r>
            <a:endParaRPr lang="en-US" sz="1500" dirty="0"/>
          </a:p>
        </p:txBody>
      </p:sp>
      <p:sp>
        <p:nvSpPr>
          <p:cNvPr id="93" name="Shape 91"/>
          <p:cNvSpPr/>
          <p:nvPr/>
        </p:nvSpPr>
        <p:spPr>
          <a:xfrm>
            <a:off x="17106900" y="9068321"/>
            <a:ext cx="304800" cy="304800"/>
          </a:xfrm>
          <a:prstGeom prst="ellipse">
            <a:avLst/>
          </a:prstGeom>
          <a:solidFill>
            <a:srgbClr val="46527A"/>
          </a:solidFill>
          <a:ln/>
        </p:spPr>
      </p:sp>
      <p:sp>
        <p:nvSpPr>
          <p:cNvPr id="94" name="Text 92"/>
          <p:cNvSpPr/>
          <p:nvPr/>
        </p:nvSpPr>
        <p:spPr>
          <a:xfrm>
            <a:off x="16949068" y="9487421"/>
            <a:ext cx="62046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C89A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Profilo</a:t>
            </a:r>
            <a:endParaRPr lang="en-US" sz="1500" dirty="0"/>
          </a:p>
        </p:txBody>
      </p:sp>
      <p:sp>
        <p:nvSpPr>
          <p:cNvPr id="95" name="Text 93"/>
          <p:cNvSpPr/>
          <p:nvPr/>
        </p:nvSpPr>
        <p:spPr>
          <a:xfrm>
            <a:off x="13898835" y="10282758"/>
            <a:ext cx="236374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6F6B6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TEMA SCURO · 1A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045369"/>
            <a:ext cx="565100" cy="461963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3" name="Text 1"/>
          <p:cNvSpPr/>
          <p:nvPr/>
        </p:nvSpPr>
        <p:spPr>
          <a:xfrm>
            <a:off x="933450" y="1121569"/>
            <a:ext cx="3746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65" kern="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1b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574750" y="914400"/>
            <a:ext cx="3778448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121"/>
              </a:lnSpc>
              <a:buNone/>
            </a:pPr>
            <a:r>
              <a:rPr lang="en-US" sz="5700" spc="-171" kern="0" dirty="0">
                <a:solidFill>
                  <a:srgbClr val="17171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Tabellino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800100" y="1847850"/>
            <a:ext cx="1490067" cy="438150"/>
          </a:xfrm>
          <a:prstGeom prst="roundRect">
            <a:avLst>
              <a:gd name="adj" fmla="val 50000"/>
            </a:avLst>
          </a:prstGeom>
          <a:ln w="19050">
            <a:solidFill>
              <a:srgbClr val="1717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9650" y="1943100"/>
            <a:ext cx="114716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autorevole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23517" y="1847850"/>
            <a:ext cx="967680" cy="438150"/>
          </a:xfrm>
          <a:prstGeom prst="roundRect">
            <a:avLst>
              <a:gd name="adj" fmla="val 50000"/>
            </a:avLst>
          </a:prstGeom>
          <a:ln w="19050">
            <a:solidFill>
              <a:srgbClr val="1717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33067" y="1943100"/>
            <a:ext cx="6247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calda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524548" y="1847850"/>
            <a:ext cx="1047229" cy="438150"/>
          </a:xfrm>
          <a:prstGeom prst="roundRect">
            <a:avLst>
              <a:gd name="adj" fmla="val 50000"/>
            </a:avLst>
          </a:prstGeom>
          <a:ln w="19050">
            <a:solidFill>
              <a:srgbClr val="1717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34098" y="1943100"/>
            <a:ext cx="70432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sobria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0100" y="2495550"/>
            <a:ext cx="932021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55"/>
              </a:lnSpc>
              <a:buNone/>
            </a:pPr>
            <a:r>
              <a:rPr lang="en-US" sz="2025" dirty="0">
                <a:solidFill>
                  <a:srgbClr val="55534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 pagina sportiva. Carta, verde campo, un rosso da rotativa. Serietà della classifica prima del pathos: la direzione che invecchia meglio.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800100" y="3705225"/>
            <a:ext cx="1081278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8" kern="0" dirty="0">
                <a:solidFill>
                  <a:srgbClr val="8A888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PALETTE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800100" y="4148137"/>
            <a:ext cx="2314575" cy="1238250"/>
          </a:xfrm>
          <a:prstGeom prst="rect">
            <a:avLst/>
          </a:prstGeom>
          <a:solidFill>
            <a:srgbClr val="12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" y="5481638"/>
            <a:ext cx="25460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#123B2E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0100" y="5857875"/>
            <a:ext cx="25460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Primario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3305175" y="4148137"/>
            <a:ext cx="2314575" cy="1238250"/>
          </a:xfrm>
          <a:prstGeom prst="rect">
            <a:avLst/>
          </a:prstGeom>
          <a:solidFill>
            <a:srgbClr val="E4DCC8"/>
          </a:solidFill>
          <a:ln/>
        </p:spPr>
      </p:sp>
      <p:sp>
        <p:nvSpPr>
          <p:cNvPr id="17" name="Text 15"/>
          <p:cNvSpPr/>
          <p:nvPr/>
        </p:nvSpPr>
        <p:spPr>
          <a:xfrm>
            <a:off x="3305175" y="5481638"/>
            <a:ext cx="25460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#E4DCC8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05175" y="5857875"/>
            <a:ext cx="25460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Secondario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5810250" y="4148137"/>
            <a:ext cx="2314575" cy="1238250"/>
          </a:xfrm>
          <a:prstGeom prst="rect">
            <a:avLst/>
          </a:prstGeom>
          <a:solidFill>
            <a:srgbClr val="C43B22"/>
          </a:solidFill>
          <a:ln/>
        </p:spPr>
      </p:sp>
      <p:sp>
        <p:nvSpPr>
          <p:cNvPr id="20" name="Text 18"/>
          <p:cNvSpPr/>
          <p:nvPr/>
        </p:nvSpPr>
        <p:spPr>
          <a:xfrm>
            <a:off x="5810250" y="5481638"/>
            <a:ext cx="25460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#C43B22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10250" y="5857875"/>
            <a:ext cx="25460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Accento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8315325" y="4148137"/>
            <a:ext cx="2314575" cy="1257300"/>
          </a:xfrm>
          <a:prstGeom prst="rect">
            <a:avLst/>
          </a:prstGeom>
          <a:solidFill>
            <a:srgbClr val="F6F2E9"/>
          </a:solidFill>
          <a:ln w="9525">
            <a:solidFill>
              <a:srgbClr val="D8D5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15325" y="5500688"/>
            <a:ext cx="25460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#F6F2E9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15325" y="5876925"/>
            <a:ext cx="25460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Sfondo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800100" y="6510338"/>
            <a:ext cx="9829800" cy="19050"/>
          </a:xfrm>
          <a:prstGeom prst="rect">
            <a:avLst/>
          </a:prstGeom>
          <a:solidFill>
            <a:srgbClr val="D8D5CD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" y="6853238"/>
            <a:ext cx="1081278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8" kern="0" dirty="0">
                <a:solidFill>
                  <a:srgbClr val="8A888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INSTRUMENT SERIF + WORK SANS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800100" y="7258050"/>
            <a:ext cx="1081278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800"/>
              </a:lnSpc>
              <a:buNone/>
            </a:pPr>
            <a:r>
              <a:rPr lang="en-US" sz="7200" spc="-108" kern="0" dirty="0">
                <a:solidFill>
                  <a:srgbClr val="123B2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Milan–Inter </a:t>
            </a:r>
            <a:pPr algn="l" indent="0" marL="0">
              <a:lnSpc>
                <a:spcPct val="76800"/>
              </a:lnSpc>
              <a:buNone/>
            </a:pPr>
            <a:r>
              <a:rPr lang="en-US" sz="7200" i="1" spc="-108" kern="0" dirty="0">
                <a:solidFill>
                  <a:srgbClr val="C43B2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1-2</a:t>
            </a:r>
            <a:endParaRPr lang="en-US" sz="7200" dirty="0"/>
          </a:p>
        </p:txBody>
      </p:sp>
      <p:sp>
        <p:nvSpPr>
          <p:cNvPr id="28" name="Text 26"/>
          <p:cNvSpPr/>
          <p:nvPr/>
        </p:nvSpPr>
        <p:spPr>
          <a:xfrm>
            <a:off x="800100" y="8305800"/>
            <a:ext cx="882967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131"/>
              </a:lnSpc>
              <a:buNone/>
            </a:pPr>
            <a:r>
              <a:rPr lang="en-US" sz="1950" dirty="0">
                <a:solidFill>
                  <a:srgbClr val="3C3B37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Testo corpo in Work Sans. Pronostica il risultato esatto entro il fischio d'inizio e sali in classifica.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1430000" y="0"/>
            <a:ext cx="6858000" cy="10287000"/>
          </a:xfrm>
          <a:prstGeom prst="rect">
            <a:avLst/>
          </a:prstGeom>
          <a:solidFill>
            <a:srgbClr val="DEDAD1"/>
          </a:solidFill>
          <a:ln/>
        </p:spPr>
      </p:sp>
      <p:sp>
        <p:nvSpPr>
          <p:cNvPr id="30" name="Shape 28"/>
          <p:cNvSpPr/>
          <p:nvPr/>
        </p:nvSpPr>
        <p:spPr>
          <a:xfrm>
            <a:off x="11544300" y="608409"/>
            <a:ext cx="6629400" cy="9070107"/>
          </a:xfrm>
          <a:prstGeom prst="roundRect">
            <a:avLst>
              <a:gd name="adj" fmla="val 7471"/>
            </a:avLst>
          </a:prstGeom>
          <a:solidFill>
            <a:srgbClr val="F6F2E9"/>
          </a:solidFill>
          <a:ln/>
          <a:effectLst>
            <a:outerShdw sx="100000" sy="100000" kx="0" ky="0" algn="bl" rotWithShape="0" blurRad="762000" dist="342900" dir="5400000">
              <a:srgbClr val="000000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1963400" y="951309"/>
            <a:ext cx="64077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D887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20:45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6580048" y="951309"/>
            <a:ext cx="125075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D887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Serie A · G3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1811000" y="1427559"/>
            <a:ext cx="6096000" cy="2969344"/>
          </a:xfrm>
          <a:prstGeom prst="roundRect">
            <a:avLst>
              <a:gd name="adj" fmla="val 8982"/>
            </a:avLst>
          </a:prstGeom>
          <a:solidFill>
            <a:srgbClr val="123B2E"/>
          </a:solidFill>
          <a:ln/>
        </p:spPr>
      </p:sp>
      <p:sp>
        <p:nvSpPr>
          <p:cNvPr id="34" name="Text 32"/>
          <p:cNvSpPr/>
          <p:nvPr/>
        </p:nvSpPr>
        <p:spPr>
          <a:xfrm>
            <a:off x="12153900" y="1770459"/>
            <a:ext cx="595122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70" kern="0" dirty="0">
                <a:solidFill>
                  <a:srgbClr val="E4DCC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CHIUDE TRA 04:12:33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2153900" y="2222897"/>
            <a:ext cx="5572506" cy="12815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180"/>
              </a:lnSpc>
              <a:buNone/>
            </a:pPr>
            <a:r>
              <a:rPr lang="en-US" sz="4800" dirty="0">
                <a:solidFill>
                  <a:srgbClr val="F6F2E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Il big match </a:t>
            </a:r>
            <a:pPr algn="l" indent="0" marL="0">
              <a:lnSpc>
                <a:spcPct val="78180"/>
              </a:lnSpc>
              <a:buNone/>
            </a:pPr>
            <a:r>
              <a:rPr lang="en-US" sz="4800" i="1" dirty="0">
                <a:solidFill>
                  <a:srgbClr val="F6F2E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è aperto</a:t>
            </a:r>
            <a:endParaRPr lang="en-US" sz="4800" dirty="0"/>
          </a:p>
        </p:txBody>
      </p:sp>
      <p:sp>
        <p:nvSpPr>
          <p:cNvPr id="36" name="Text 34"/>
          <p:cNvSpPr/>
          <p:nvPr/>
        </p:nvSpPr>
        <p:spPr>
          <a:xfrm>
            <a:off x="12153900" y="3694956"/>
            <a:ext cx="5951220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607"/>
              </a:lnSpc>
              <a:buNone/>
            </a:pPr>
            <a:r>
              <a:rPr lang="en-US" sz="1950" dirty="0">
                <a:solidFill>
                  <a:srgbClr val="B6C6B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Milan–Inter. 48.219 pronostici già inviati.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11811000" y="4625504"/>
            <a:ext cx="6096000" cy="2376488"/>
          </a:xfrm>
          <a:prstGeom prst="roundRect">
            <a:avLst>
              <a:gd name="adj" fmla="val 11222"/>
            </a:avLst>
          </a:prstGeom>
          <a:solidFill>
            <a:srgbClr val="FFFFFF"/>
          </a:solidFill>
          <a:ln w="19050">
            <a:solidFill>
              <a:srgbClr val="E0D8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134850" y="4968404"/>
            <a:ext cx="232289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8D887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LA TUA STAGIONE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6221447" y="4949354"/>
            <a:ext cx="149787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43B2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#312 / 48.219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2134850" y="5463704"/>
            <a:ext cx="185795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4500" dirty="0">
                <a:solidFill>
                  <a:srgbClr val="123B2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68%</a:t>
            </a:r>
            <a:endParaRPr lang="en-US" sz="4500" dirty="0"/>
          </a:p>
        </p:txBody>
      </p:sp>
      <p:sp>
        <p:nvSpPr>
          <p:cNvPr id="41" name="Text 39"/>
          <p:cNvSpPr/>
          <p:nvPr/>
        </p:nvSpPr>
        <p:spPr>
          <a:xfrm>
            <a:off x="12134850" y="6073304"/>
            <a:ext cx="18579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8D887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PRECISIONE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4014400" y="5463704"/>
            <a:ext cx="185803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4500" dirty="0">
                <a:solidFill>
                  <a:srgbClr val="C43B2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5</a:t>
            </a:r>
            <a:endParaRPr lang="en-US" sz="4500" dirty="0"/>
          </a:p>
        </p:txBody>
      </p:sp>
      <p:sp>
        <p:nvSpPr>
          <p:cNvPr id="43" name="Text 41"/>
          <p:cNvSpPr/>
          <p:nvPr/>
        </p:nvSpPr>
        <p:spPr>
          <a:xfrm>
            <a:off x="14014400" y="6073304"/>
            <a:ext cx="1858037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8D887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SERIE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5894025" y="5463704"/>
            <a:ext cx="185795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4500" dirty="0">
                <a:solidFill>
                  <a:srgbClr val="123B2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1.240</a:t>
            </a:r>
            <a:endParaRPr lang="en-US" sz="4500" dirty="0"/>
          </a:p>
        </p:txBody>
      </p:sp>
      <p:sp>
        <p:nvSpPr>
          <p:cNvPr id="45" name="Text 43"/>
          <p:cNvSpPr/>
          <p:nvPr/>
        </p:nvSpPr>
        <p:spPr>
          <a:xfrm>
            <a:off x="15894025" y="6073304"/>
            <a:ext cx="18579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8D887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PUNTI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12134850" y="6563841"/>
            <a:ext cx="5448300" cy="114300"/>
          </a:xfrm>
          <a:prstGeom prst="roundRect">
            <a:avLst>
              <a:gd name="adj" fmla="val 50000"/>
            </a:avLst>
          </a:prstGeom>
          <a:solidFill>
            <a:srgbClr val="E4DCC8"/>
          </a:solidFill>
          <a:ln/>
        </p:spPr>
      </p:sp>
      <p:sp>
        <p:nvSpPr>
          <p:cNvPr id="47" name="Shape 45"/>
          <p:cNvSpPr/>
          <p:nvPr/>
        </p:nvSpPr>
        <p:spPr>
          <a:xfrm>
            <a:off x="12134850" y="6563841"/>
            <a:ext cx="3704779" cy="114300"/>
          </a:xfrm>
          <a:prstGeom prst="rect">
            <a:avLst/>
          </a:prstGeom>
          <a:solidFill>
            <a:srgbClr val="123B2E"/>
          </a:solidFill>
          <a:ln/>
        </p:spPr>
      </p:sp>
      <p:sp>
        <p:nvSpPr>
          <p:cNvPr id="48" name="Shape 46"/>
          <p:cNvSpPr/>
          <p:nvPr/>
        </p:nvSpPr>
        <p:spPr>
          <a:xfrm>
            <a:off x="11811000" y="7230591"/>
            <a:ext cx="6096000" cy="909638"/>
          </a:xfrm>
          <a:prstGeom prst="roundRect">
            <a:avLst>
              <a:gd name="adj" fmla="val 20942"/>
            </a:avLst>
          </a:prstGeom>
          <a:solidFill>
            <a:srgbClr val="C43B22"/>
          </a:solidFill>
          <a:ln/>
        </p:spPr>
      </p:sp>
      <p:sp>
        <p:nvSpPr>
          <p:cNvPr id="49" name="Text 47"/>
          <p:cNvSpPr/>
          <p:nvPr/>
        </p:nvSpPr>
        <p:spPr>
          <a:xfrm>
            <a:off x="12005310" y="7516341"/>
            <a:ext cx="570738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22" kern="0" dirty="0">
                <a:solidFill>
                  <a:srgbClr val="F6F2E9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Conferma pronostico</a:t>
            </a:r>
            <a:endParaRPr lang="en-US" sz="2250" dirty="0"/>
          </a:p>
        </p:txBody>
      </p:sp>
      <p:sp>
        <p:nvSpPr>
          <p:cNvPr id="50" name="Shape 48"/>
          <p:cNvSpPr/>
          <p:nvPr/>
        </p:nvSpPr>
        <p:spPr>
          <a:xfrm>
            <a:off x="11544300" y="8406929"/>
            <a:ext cx="6629400" cy="19050"/>
          </a:xfrm>
          <a:prstGeom prst="rect">
            <a:avLst/>
          </a:prstGeom>
          <a:solidFill>
            <a:srgbClr val="E0D8C4"/>
          </a:solidFill>
          <a:ln/>
        </p:spPr>
      </p:sp>
      <p:sp>
        <p:nvSpPr>
          <p:cNvPr id="51" name="Shape 49"/>
          <p:cNvSpPr/>
          <p:nvPr/>
        </p:nvSpPr>
        <p:spPr>
          <a:xfrm>
            <a:off x="12420600" y="8654579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23B2E"/>
          </a:solidFill>
          <a:ln/>
        </p:spPr>
      </p:sp>
      <p:sp>
        <p:nvSpPr>
          <p:cNvPr id="52" name="Text 50"/>
          <p:cNvSpPr/>
          <p:nvPr/>
        </p:nvSpPr>
        <p:spPr>
          <a:xfrm>
            <a:off x="12332494" y="9073679"/>
            <a:ext cx="48101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2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Oggi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13906500" y="8654579"/>
            <a:ext cx="381000" cy="381000"/>
          </a:xfrm>
          <a:prstGeom prst="roundRect">
            <a:avLst>
              <a:gd name="adj" fmla="val 20000"/>
            </a:avLst>
          </a:prstGeom>
          <a:ln w="38100">
            <a:solidFill>
              <a:srgbClr val="B3AB9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783791" y="9149879"/>
            <a:ext cx="62641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D887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Leghe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15430500" y="8654579"/>
            <a:ext cx="381000" cy="381000"/>
          </a:xfrm>
          <a:prstGeom prst="ellipse">
            <a:avLst/>
          </a:prstGeom>
          <a:ln w="38100">
            <a:solidFill>
              <a:srgbClr val="B3AB9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5138722" y="9149879"/>
            <a:ext cx="9645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D887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Classifica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16992600" y="8654579"/>
            <a:ext cx="304800" cy="304800"/>
          </a:xfrm>
          <a:prstGeom prst="ellipse">
            <a:avLst/>
          </a:prstGeom>
          <a:solidFill>
            <a:srgbClr val="B3AB97"/>
          </a:solidFill>
          <a:ln/>
        </p:spPr>
      </p:sp>
      <p:sp>
        <p:nvSpPr>
          <p:cNvPr id="58" name="Text 56"/>
          <p:cNvSpPr/>
          <p:nvPr/>
        </p:nvSpPr>
        <p:spPr>
          <a:xfrm>
            <a:off x="16806044" y="9073679"/>
            <a:ext cx="67783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D887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Profilo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045369"/>
            <a:ext cx="565100" cy="461963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3" name="Text 1"/>
          <p:cNvSpPr/>
          <p:nvPr/>
        </p:nvSpPr>
        <p:spPr>
          <a:xfrm>
            <a:off x="933450" y="1121569"/>
            <a:ext cx="3746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65" kern="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1c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574750" y="914400"/>
            <a:ext cx="2853154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121"/>
              </a:lnSpc>
              <a:buNone/>
            </a:pPr>
            <a:r>
              <a:rPr lang="en-US" sz="5700" spc="-171" kern="0" dirty="0">
                <a:solidFill>
                  <a:srgbClr val="17171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Diretta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800100" y="1847850"/>
            <a:ext cx="972741" cy="438150"/>
          </a:xfrm>
          <a:prstGeom prst="roundRect">
            <a:avLst>
              <a:gd name="adj" fmla="val 50000"/>
            </a:avLst>
          </a:prstGeom>
          <a:ln w="19050">
            <a:solidFill>
              <a:srgbClr val="1717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9650" y="1943100"/>
            <a:ext cx="629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nitida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906191" y="1847850"/>
            <a:ext cx="1153939" cy="438150"/>
          </a:xfrm>
          <a:prstGeom prst="roundRect">
            <a:avLst>
              <a:gd name="adj" fmla="val 50000"/>
            </a:avLst>
          </a:prstGeom>
          <a:ln w="19050">
            <a:solidFill>
              <a:srgbClr val="1717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15741" y="1943100"/>
            <a:ext cx="81103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tecnica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93479" y="1847850"/>
            <a:ext cx="1083990" cy="438150"/>
          </a:xfrm>
          <a:prstGeom prst="roundRect">
            <a:avLst>
              <a:gd name="adj" fmla="val 50000"/>
            </a:avLst>
          </a:prstGeom>
          <a:ln w="19050">
            <a:solidFill>
              <a:srgbClr val="1717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3029" y="1943100"/>
            <a:ext cx="7410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veloce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0100" y="2495550"/>
            <a:ext cx="932021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55"/>
              </a:lnSpc>
              <a:buNone/>
            </a:pPr>
            <a:r>
              <a:rPr lang="en-US" sz="2025" dirty="0">
                <a:solidFill>
                  <a:srgbClr val="55534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Grafica da broadcast. Fondo chiaro, blu di scena, magenta per il live. Dati leggibili in un secondo, vicina al linguaggio Sofascore.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800100" y="3705225"/>
            <a:ext cx="1081278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8" kern="0" dirty="0">
                <a:solidFill>
                  <a:srgbClr val="8A888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PALETTE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800100" y="4148137"/>
            <a:ext cx="2314575" cy="1238250"/>
          </a:xfrm>
          <a:prstGeom prst="rect">
            <a:avLst/>
          </a:prstGeom>
          <a:solidFill>
            <a:srgbClr val="0B39FF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" y="5481638"/>
            <a:ext cx="25460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#0B39FF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0100" y="5857875"/>
            <a:ext cx="25460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Primario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3305175" y="4148137"/>
            <a:ext cx="2314575" cy="1238250"/>
          </a:xfrm>
          <a:prstGeom prst="rect">
            <a:avLst/>
          </a:prstGeom>
          <a:solidFill>
            <a:srgbClr val="0B0B12"/>
          </a:solidFill>
          <a:ln/>
        </p:spPr>
      </p:sp>
      <p:sp>
        <p:nvSpPr>
          <p:cNvPr id="17" name="Text 15"/>
          <p:cNvSpPr/>
          <p:nvPr/>
        </p:nvSpPr>
        <p:spPr>
          <a:xfrm>
            <a:off x="3305175" y="5481638"/>
            <a:ext cx="25460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#0B0B12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05175" y="5857875"/>
            <a:ext cx="25460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Secondario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5810250" y="4148137"/>
            <a:ext cx="2314575" cy="1238250"/>
          </a:xfrm>
          <a:prstGeom prst="rect">
            <a:avLst/>
          </a:prstGeom>
          <a:solidFill>
            <a:srgbClr val="FF2E6B"/>
          </a:solidFill>
          <a:ln/>
        </p:spPr>
      </p:sp>
      <p:sp>
        <p:nvSpPr>
          <p:cNvPr id="20" name="Text 18"/>
          <p:cNvSpPr/>
          <p:nvPr/>
        </p:nvSpPr>
        <p:spPr>
          <a:xfrm>
            <a:off x="5810250" y="5481638"/>
            <a:ext cx="25460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#FF2E6B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10250" y="5857875"/>
            <a:ext cx="25460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Accento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8315325" y="4148137"/>
            <a:ext cx="2314575" cy="1257300"/>
          </a:xfrm>
          <a:prstGeom prst="rect">
            <a:avLst/>
          </a:prstGeom>
          <a:solidFill>
            <a:srgbClr val="F2F4F8"/>
          </a:solidFill>
          <a:ln w="9525">
            <a:solidFill>
              <a:srgbClr val="D8D5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15325" y="5500688"/>
            <a:ext cx="25460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#F2F4F8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15325" y="5876925"/>
            <a:ext cx="25460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Sfondo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800100" y="6510338"/>
            <a:ext cx="9829800" cy="19050"/>
          </a:xfrm>
          <a:prstGeom prst="rect">
            <a:avLst/>
          </a:prstGeom>
          <a:solidFill>
            <a:srgbClr val="D8D5CD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" y="6853238"/>
            <a:ext cx="1081278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8" kern="0" dirty="0">
                <a:solidFill>
                  <a:srgbClr val="8A888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SPACE GROTESK + SPACE MONO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800100" y="7258050"/>
            <a:ext cx="10812780" cy="882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75"/>
              </a:lnSpc>
              <a:buNone/>
            </a:pPr>
            <a:r>
              <a:rPr lang="en-US" sz="6300" b="1" spc="-220" kern="0" dirty="0">
                <a:solidFill>
                  <a:srgbClr val="0B0B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Milan–Inter </a:t>
            </a:r>
            <a:pPr algn="l" indent="0" marL="0">
              <a:lnSpc>
                <a:spcPct val="80075"/>
              </a:lnSpc>
              <a:buNone/>
            </a:pPr>
            <a:r>
              <a:rPr lang="en-US" sz="6300" b="1" spc="-220" kern="0" dirty="0">
                <a:solidFill>
                  <a:srgbClr val="0B39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1-2</a:t>
            </a:r>
            <a:endParaRPr lang="en-US" sz="6300" dirty="0"/>
          </a:p>
        </p:txBody>
      </p:sp>
      <p:sp>
        <p:nvSpPr>
          <p:cNvPr id="28" name="Text 26"/>
          <p:cNvSpPr/>
          <p:nvPr/>
        </p:nvSpPr>
        <p:spPr>
          <a:xfrm>
            <a:off x="800100" y="8236074"/>
            <a:ext cx="882967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21"/>
              </a:lnSpc>
              <a:buNone/>
            </a:pPr>
            <a:r>
              <a:rPr lang="en-US" sz="1950" dirty="0">
                <a:solidFill>
                  <a:srgbClr val="3C3B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Testo corpo in Space Grotesk, numeri in Space Mono. Pronostica il risultato esatto entro il fischio d'inizio.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1430000" y="0"/>
            <a:ext cx="6858000" cy="10287000"/>
          </a:xfrm>
          <a:prstGeom prst="rect">
            <a:avLst/>
          </a:prstGeom>
          <a:solidFill>
            <a:srgbClr val="DEDAD1"/>
          </a:solidFill>
          <a:ln/>
        </p:spPr>
      </p:sp>
      <p:sp>
        <p:nvSpPr>
          <p:cNvPr id="30" name="Shape 28"/>
          <p:cNvSpPr/>
          <p:nvPr/>
        </p:nvSpPr>
        <p:spPr>
          <a:xfrm>
            <a:off x="11544300" y="397669"/>
            <a:ext cx="6629400" cy="9491663"/>
          </a:xfrm>
          <a:prstGeom prst="roundRect">
            <a:avLst>
              <a:gd name="adj" fmla="val 7471"/>
            </a:avLst>
          </a:prstGeom>
          <a:solidFill>
            <a:srgbClr val="F2F4F8"/>
          </a:solidFill>
          <a:ln/>
          <a:effectLst>
            <a:outerShdw sx="100000" sy="100000" kx="0" ky="0" algn="bl" rotWithShape="0" blurRad="762000" dist="342900" dir="5400000">
              <a:srgbClr val="0B39FF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1963400" y="740569"/>
            <a:ext cx="71742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829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20:45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6215643" y="740569"/>
            <a:ext cx="169285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829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SERIE A · G3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1811000" y="1278731"/>
            <a:ext cx="6096000" cy="3019425"/>
          </a:xfrm>
          <a:prstGeom prst="roundRect">
            <a:avLst>
              <a:gd name="adj" fmla="val 11356"/>
            </a:avLst>
          </a:prstGeom>
          <a:solidFill>
            <a:srgbClr val="0B39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2153900" y="1621631"/>
            <a:ext cx="2079501" cy="395288"/>
          </a:xfrm>
          <a:prstGeom prst="roundRect">
            <a:avLst>
              <a:gd name="adj" fmla="val 19277"/>
            </a:avLst>
          </a:prstGeom>
          <a:solidFill>
            <a:srgbClr val="FF2E6B"/>
          </a:solidFill>
          <a:ln/>
        </p:spPr>
      </p:sp>
      <p:sp>
        <p:nvSpPr>
          <p:cNvPr id="35" name="Text 33"/>
          <p:cNvSpPr/>
          <p:nvPr/>
        </p:nvSpPr>
        <p:spPr>
          <a:xfrm>
            <a:off x="12287250" y="1678781"/>
            <a:ext cx="188900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LIVE 04:12:33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2153900" y="2245519"/>
            <a:ext cx="5572506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431"/>
              </a:lnSpc>
              <a:buNone/>
            </a:pPr>
            <a:r>
              <a:rPr lang="en-US" sz="4500" b="1" spc="-13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Il big match è aperto</a:t>
            </a:r>
            <a:endParaRPr lang="en-US" sz="4500" dirty="0"/>
          </a:p>
        </p:txBody>
      </p:sp>
      <p:sp>
        <p:nvSpPr>
          <p:cNvPr id="37" name="Text 35"/>
          <p:cNvSpPr/>
          <p:nvPr/>
        </p:nvSpPr>
        <p:spPr>
          <a:xfrm>
            <a:off x="12153900" y="3617119"/>
            <a:ext cx="595122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3CD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Milan–Inter · 48.219 pronostici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1811000" y="4526756"/>
            <a:ext cx="6096000" cy="2638425"/>
          </a:xfrm>
          <a:prstGeom prst="roundRect">
            <a:avLst>
              <a:gd name="adj" fmla="val 129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B0B12">
                <a:alpha val="6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2115800" y="4850606"/>
            <a:ext cx="236374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7C829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 TUA STAGIONE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6191458" y="4831556"/>
            <a:ext cx="155181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2E6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#312/48.219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2115800" y="5407819"/>
            <a:ext cx="1871953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0B0B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68%</a:t>
            </a:r>
            <a:endParaRPr lang="en-US" sz="3900" dirty="0"/>
          </a:p>
        </p:txBody>
      </p:sp>
      <p:sp>
        <p:nvSpPr>
          <p:cNvPr id="42" name="Text 40"/>
          <p:cNvSpPr/>
          <p:nvPr/>
        </p:nvSpPr>
        <p:spPr>
          <a:xfrm>
            <a:off x="12115800" y="6198394"/>
            <a:ext cx="1871953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7C82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PRECISIONE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4008075" y="5407819"/>
            <a:ext cx="1871953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0B39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5</a:t>
            </a:r>
            <a:endParaRPr lang="en-US" sz="3900" dirty="0"/>
          </a:p>
        </p:txBody>
      </p:sp>
      <p:sp>
        <p:nvSpPr>
          <p:cNvPr id="44" name="Text 42"/>
          <p:cNvSpPr/>
          <p:nvPr/>
        </p:nvSpPr>
        <p:spPr>
          <a:xfrm>
            <a:off x="14008075" y="6198394"/>
            <a:ext cx="1871953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7C82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SERIE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5900350" y="5407819"/>
            <a:ext cx="1872035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0B0B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1.240</a:t>
            </a:r>
            <a:endParaRPr lang="en-US" sz="3900" dirty="0"/>
          </a:p>
        </p:txBody>
      </p:sp>
      <p:sp>
        <p:nvSpPr>
          <p:cNvPr id="46" name="Text 44"/>
          <p:cNvSpPr/>
          <p:nvPr/>
        </p:nvSpPr>
        <p:spPr>
          <a:xfrm>
            <a:off x="15900350" y="6198394"/>
            <a:ext cx="1872035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7C82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PUNTI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12115800" y="6707981"/>
            <a:ext cx="866775" cy="152400"/>
          </a:xfrm>
          <a:prstGeom prst="roundRect">
            <a:avLst>
              <a:gd name="adj" fmla="val 25000"/>
            </a:avLst>
          </a:prstGeom>
          <a:solidFill>
            <a:srgbClr val="0B39FF"/>
          </a:solidFill>
          <a:ln/>
        </p:spPr>
      </p:sp>
      <p:sp>
        <p:nvSpPr>
          <p:cNvPr id="48" name="Shape 46"/>
          <p:cNvSpPr/>
          <p:nvPr/>
        </p:nvSpPr>
        <p:spPr>
          <a:xfrm>
            <a:off x="13039725" y="6707981"/>
            <a:ext cx="866775" cy="152400"/>
          </a:xfrm>
          <a:prstGeom prst="roundRect">
            <a:avLst>
              <a:gd name="adj" fmla="val 25000"/>
            </a:avLst>
          </a:prstGeom>
          <a:solidFill>
            <a:srgbClr val="0B39FF"/>
          </a:solidFill>
          <a:ln/>
        </p:spPr>
      </p:sp>
      <p:sp>
        <p:nvSpPr>
          <p:cNvPr id="49" name="Shape 47"/>
          <p:cNvSpPr/>
          <p:nvPr/>
        </p:nvSpPr>
        <p:spPr>
          <a:xfrm>
            <a:off x="13963650" y="6707981"/>
            <a:ext cx="866775" cy="152400"/>
          </a:xfrm>
          <a:prstGeom prst="roundRect">
            <a:avLst>
              <a:gd name="adj" fmla="val 25000"/>
            </a:avLst>
          </a:prstGeom>
          <a:solidFill>
            <a:srgbClr val="0B39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4887575" y="6707981"/>
            <a:ext cx="866775" cy="152400"/>
          </a:xfrm>
          <a:prstGeom prst="roundRect">
            <a:avLst>
              <a:gd name="adj" fmla="val 25000"/>
            </a:avLst>
          </a:prstGeom>
          <a:solidFill>
            <a:srgbClr val="FF2E6B"/>
          </a:solidFill>
          <a:ln/>
        </p:spPr>
      </p:sp>
      <p:sp>
        <p:nvSpPr>
          <p:cNvPr id="51" name="Shape 49"/>
          <p:cNvSpPr/>
          <p:nvPr/>
        </p:nvSpPr>
        <p:spPr>
          <a:xfrm>
            <a:off x="15811500" y="6707981"/>
            <a:ext cx="866775" cy="152400"/>
          </a:xfrm>
          <a:prstGeom prst="roundRect">
            <a:avLst>
              <a:gd name="adj" fmla="val 25000"/>
            </a:avLst>
          </a:prstGeom>
          <a:solidFill>
            <a:srgbClr val="D9DEE9"/>
          </a:solidFill>
          <a:ln/>
        </p:spPr>
      </p:sp>
      <p:sp>
        <p:nvSpPr>
          <p:cNvPr id="52" name="Shape 50"/>
          <p:cNvSpPr/>
          <p:nvPr/>
        </p:nvSpPr>
        <p:spPr>
          <a:xfrm>
            <a:off x="16735425" y="6707981"/>
            <a:ext cx="866775" cy="152400"/>
          </a:xfrm>
          <a:prstGeom prst="roundRect">
            <a:avLst>
              <a:gd name="adj" fmla="val 25000"/>
            </a:avLst>
          </a:prstGeom>
          <a:solidFill>
            <a:srgbClr val="D9DEE9"/>
          </a:solidFill>
          <a:ln/>
        </p:spPr>
      </p:sp>
      <p:sp>
        <p:nvSpPr>
          <p:cNvPr id="53" name="Shape 51"/>
          <p:cNvSpPr/>
          <p:nvPr/>
        </p:nvSpPr>
        <p:spPr>
          <a:xfrm>
            <a:off x="11811000" y="7393781"/>
            <a:ext cx="6096000" cy="938213"/>
          </a:xfrm>
          <a:prstGeom prst="roundRect">
            <a:avLst>
              <a:gd name="adj" fmla="val 24365"/>
            </a:avLst>
          </a:prstGeom>
          <a:solidFill>
            <a:srgbClr val="0B0B12"/>
          </a:solidFill>
          <a:ln/>
        </p:spPr>
      </p:sp>
      <p:sp>
        <p:nvSpPr>
          <p:cNvPr id="54" name="Text 52"/>
          <p:cNvSpPr/>
          <p:nvPr/>
        </p:nvSpPr>
        <p:spPr>
          <a:xfrm>
            <a:off x="12005310" y="7679531"/>
            <a:ext cx="570738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-22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Conferma pronostico</a:t>
            </a:r>
            <a:endParaRPr lang="en-US" sz="2250" dirty="0"/>
          </a:p>
        </p:txBody>
      </p:sp>
      <p:sp>
        <p:nvSpPr>
          <p:cNvPr id="55" name="Shape 53"/>
          <p:cNvSpPr/>
          <p:nvPr/>
        </p:nvSpPr>
        <p:spPr>
          <a:xfrm>
            <a:off x="11544300" y="8598694"/>
            <a:ext cx="6629400" cy="19050"/>
          </a:xfrm>
          <a:prstGeom prst="rect">
            <a:avLst/>
          </a:prstGeom>
          <a:solidFill>
            <a:srgbClr val="E0E4EC"/>
          </a:solidFill>
          <a:ln/>
        </p:spPr>
      </p:sp>
      <p:sp>
        <p:nvSpPr>
          <p:cNvPr id="56" name="Shape 54"/>
          <p:cNvSpPr/>
          <p:nvPr/>
        </p:nvSpPr>
        <p:spPr>
          <a:xfrm>
            <a:off x="12420600" y="8846344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B39FF"/>
          </a:solidFill>
          <a:ln/>
        </p:spPr>
      </p:sp>
      <p:sp>
        <p:nvSpPr>
          <p:cNvPr id="57" name="Text 55"/>
          <p:cNvSpPr/>
          <p:nvPr/>
        </p:nvSpPr>
        <p:spPr>
          <a:xfrm>
            <a:off x="12323564" y="9265444"/>
            <a:ext cx="498797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Oggi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13906500" y="8846344"/>
            <a:ext cx="381000" cy="381000"/>
          </a:xfrm>
          <a:prstGeom prst="roundRect">
            <a:avLst>
              <a:gd name="adj" fmla="val 20000"/>
            </a:avLst>
          </a:prstGeom>
          <a:ln w="38100">
            <a:solidFill>
              <a:srgbClr val="A8AFC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3774936" y="9341644"/>
            <a:ext cx="644128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C82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Leghe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15430500" y="8846344"/>
            <a:ext cx="381000" cy="381000"/>
          </a:xfrm>
          <a:prstGeom prst="ellipse">
            <a:avLst/>
          </a:prstGeom>
          <a:ln w="38100">
            <a:solidFill>
              <a:srgbClr val="A8AFC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5145494" y="9341644"/>
            <a:ext cx="95101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C82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Classifica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16992600" y="8846344"/>
            <a:ext cx="304800" cy="304800"/>
          </a:xfrm>
          <a:prstGeom prst="ellipse">
            <a:avLst/>
          </a:prstGeom>
          <a:solidFill>
            <a:srgbClr val="A8AFC0"/>
          </a:solidFill>
          <a:ln/>
        </p:spPr>
      </p:sp>
      <p:sp>
        <p:nvSpPr>
          <p:cNvPr id="63" name="Text 61"/>
          <p:cNvSpPr/>
          <p:nvPr/>
        </p:nvSpPr>
        <p:spPr>
          <a:xfrm>
            <a:off x="16813188" y="9265444"/>
            <a:ext cx="66355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C82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Profilo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045369"/>
            <a:ext cx="565100" cy="461963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3" name="Text 1"/>
          <p:cNvSpPr/>
          <p:nvPr/>
        </p:nvSpPr>
        <p:spPr>
          <a:xfrm>
            <a:off x="933450" y="1121569"/>
            <a:ext cx="3746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65" kern="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1d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574750" y="914400"/>
            <a:ext cx="2448624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121"/>
              </a:lnSpc>
              <a:buNone/>
            </a:pPr>
            <a:r>
              <a:rPr lang="en-US" sz="5700" spc="-171" kern="0" dirty="0">
                <a:solidFill>
                  <a:srgbClr val="17171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Curva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800100" y="1847850"/>
            <a:ext cx="1320924" cy="438150"/>
          </a:xfrm>
          <a:prstGeom prst="roundRect">
            <a:avLst>
              <a:gd name="adj" fmla="val 50000"/>
            </a:avLst>
          </a:prstGeom>
          <a:ln w="19050">
            <a:solidFill>
              <a:srgbClr val="1717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9650" y="1943100"/>
            <a:ext cx="97802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viscerale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54374" y="1847850"/>
            <a:ext cx="1313334" cy="438150"/>
          </a:xfrm>
          <a:prstGeom prst="roundRect">
            <a:avLst>
              <a:gd name="adj" fmla="val 50000"/>
            </a:avLst>
          </a:prstGeom>
          <a:ln w="19050">
            <a:solidFill>
              <a:srgbClr val="1717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3924" y="1943100"/>
            <a:ext cx="97043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popolare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01058" y="1847850"/>
            <a:ext cx="1394966" cy="438150"/>
          </a:xfrm>
          <a:prstGeom prst="roundRect">
            <a:avLst>
              <a:gd name="adj" fmla="val 50000"/>
            </a:avLst>
          </a:prstGeom>
          <a:ln w="19050">
            <a:solidFill>
              <a:srgbClr val="1717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10608" y="1943100"/>
            <a:ext cx="105206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rumorosa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0100" y="2495550"/>
            <a:ext cx="932021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55"/>
              </a:lnSpc>
              <a:buNone/>
            </a:pPr>
            <a:r>
              <a:rPr lang="en-US" sz="2025" dirty="0">
                <a:solidFill>
                  <a:srgbClr val="55534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Il settore ospiti. Condensato tutto maiuscolo, arancio da stampa serigrafica, nero caldo. La più identitaria e la più divisiva.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800100" y="3705225"/>
            <a:ext cx="1081278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8" kern="0" dirty="0">
                <a:solidFill>
                  <a:srgbClr val="8A888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PALETTE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800100" y="4148137"/>
            <a:ext cx="2314575" cy="1238250"/>
          </a:xfrm>
          <a:prstGeom prst="rect">
            <a:avLst/>
          </a:prstGeom>
          <a:solidFill>
            <a:srgbClr val="EF5B12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" y="5481638"/>
            <a:ext cx="25460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#EF5B12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0100" y="5857875"/>
            <a:ext cx="25460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Primario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3305175" y="4148137"/>
            <a:ext cx="2314575" cy="1238250"/>
          </a:xfrm>
          <a:prstGeom prst="rect">
            <a:avLst/>
          </a:prstGeom>
          <a:solidFill>
            <a:srgbClr val="2B2320"/>
          </a:solidFill>
          <a:ln/>
        </p:spPr>
      </p:sp>
      <p:sp>
        <p:nvSpPr>
          <p:cNvPr id="17" name="Text 15"/>
          <p:cNvSpPr/>
          <p:nvPr/>
        </p:nvSpPr>
        <p:spPr>
          <a:xfrm>
            <a:off x="3305175" y="5481638"/>
            <a:ext cx="25460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#2B2320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05175" y="5857875"/>
            <a:ext cx="25460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Secondario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5810250" y="4148137"/>
            <a:ext cx="2314575" cy="1238250"/>
          </a:xfrm>
          <a:prstGeom prst="rect">
            <a:avLst/>
          </a:prstGeom>
          <a:solidFill>
            <a:srgbClr val="F4E3C8"/>
          </a:solidFill>
          <a:ln/>
        </p:spPr>
      </p:sp>
      <p:sp>
        <p:nvSpPr>
          <p:cNvPr id="20" name="Text 18"/>
          <p:cNvSpPr/>
          <p:nvPr/>
        </p:nvSpPr>
        <p:spPr>
          <a:xfrm>
            <a:off x="5810250" y="5481638"/>
            <a:ext cx="25460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#F4E3C8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10250" y="5857875"/>
            <a:ext cx="25460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Accento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8315325" y="4148137"/>
            <a:ext cx="2314575" cy="1238250"/>
          </a:xfrm>
          <a:prstGeom prst="rect">
            <a:avLst/>
          </a:prstGeom>
          <a:solidFill>
            <a:srgbClr val="15110F"/>
          </a:solidFill>
          <a:ln/>
        </p:spPr>
      </p:sp>
      <p:sp>
        <p:nvSpPr>
          <p:cNvPr id="23" name="Text 21"/>
          <p:cNvSpPr/>
          <p:nvPr/>
        </p:nvSpPr>
        <p:spPr>
          <a:xfrm>
            <a:off x="8315325" y="5481638"/>
            <a:ext cx="254603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#15110F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15325" y="5857875"/>
            <a:ext cx="25460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8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Sfondo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800100" y="6491288"/>
            <a:ext cx="9829800" cy="19050"/>
          </a:xfrm>
          <a:prstGeom prst="rect">
            <a:avLst/>
          </a:prstGeom>
          <a:solidFill>
            <a:srgbClr val="D8D5CD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" y="6834188"/>
            <a:ext cx="1081278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8" kern="0" dirty="0">
                <a:solidFill>
                  <a:srgbClr val="8A888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BEBAS NEUE + BARLOW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800100" y="7239000"/>
            <a:ext cx="10812780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944"/>
              </a:lnSpc>
              <a:buNone/>
            </a:pPr>
            <a:r>
              <a:rPr lang="en-US" sz="8400" spc="84" kern="0" dirty="0">
                <a:solidFill>
                  <a:srgbClr val="15110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MILAN–INTER </a:t>
            </a:r>
            <a:pPr algn="l" indent="0" marL="0">
              <a:lnSpc>
                <a:spcPct val="74944"/>
              </a:lnSpc>
              <a:buNone/>
            </a:pPr>
            <a:r>
              <a:rPr lang="en-US" sz="8400" spc="84" kern="0" dirty="0">
                <a:solidFill>
                  <a:srgbClr val="EF5B12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1-2</a:t>
            </a:r>
            <a:endParaRPr lang="en-US" sz="8400" dirty="0"/>
          </a:p>
        </p:txBody>
      </p:sp>
      <p:sp>
        <p:nvSpPr>
          <p:cNvPr id="28" name="Text 26"/>
          <p:cNvSpPr/>
          <p:nvPr/>
        </p:nvSpPr>
        <p:spPr>
          <a:xfrm>
            <a:off x="800100" y="8332440"/>
            <a:ext cx="882967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3C3B3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Testo corpo in Barlow. Pronostica il risultato esatto entro il fischio d'inizio e sali in classifica.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1430000" y="0"/>
            <a:ext cx="6858000" cy="10287000"/>
          </a:xfrm>
          <a:prstGeom prst="rect">
            <a:avLst/>
          </a:prstGeom>
          <a:solidFill>
            <a:srgbClr val="DEDAD1"/>
          </a:solidFill>
          <a:ln/>
        </p:spPr>
      </p:sp>
      <p:sp>
        <p:nvSpPr>
          <p:cNvPr id="30" name="Shape 28"/>
          <p:cNvSpPr/>
          <p:nvPr/>
        </p:nvSpPr>
        <p:spPr>
          <a:xfrm>
            <a:off x="11544300" y="473497"/>
            <a:ext cx="6629400" cy="9339932"/>
          </a:xfrm>
          <a:prstGeom prst="roundRect">
            <a:avLst>
              <a:gd name="adj" fmla="val 7471"/>
            </a:avLst>
          </a:prstGeom>
          <a:solidFill>
            <a:srgbClr val="15110F"/>
          </a:solidFill>
          <a:ln/>
          <a:effectLst>
            <a:outerShdw sx="100000" sy="100000" kx="0" ky="0" algn="bl" rotWithShape="0" blurRad="762000" dist="342900" dir="54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1963400" y="816397"/>
            <a:ext cx="610791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B8F8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20:45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6655876" y="816397"/>
            <a:ext cx="1174924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B8F8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SERIE A · G3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1811000" y="1297409"/>
            <a:ext cx="6096000" cy="3156347"/>
          </a:xfrm>
          <a:prstGeom prst="roundRect">
            <a:avLst>
              <a:gd name="adj" fmla="val 2414"/>
            </a:avLst>
          </a:prstGeom>
          <a:solidFill>
            <a:srgbClr val="EF5B12"/>
          </a:solidFill>
          <a:ln/>
        </p:spPr>
      </p:sp>
      <p:sp>
        <p:nvSpPr>
          <p:cNvPr id="34" name="Text 32"/>
          <p:cNvSpPr/>
          <p:nvPr/>
        </p:nvSpPr>
        <p:spPr>
          <a:xfrm>
            <a:off x="12153900" y="1640309"/>
            <a:ext cx="595122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94" kern="0" dirty="0">
                <a:solidFill>
                  <a:srgbClr val="15110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CHIUDE TRA 04:12:33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2153900" y="2149897"/>
            <a:ext cx="5572506" cy="1513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403"/>
              </a:lnSpc>
              <a:buNone/>
            </a:pPr>
            <a:r>
              <a:rPr lang="en-US" sz="6600" dirty="0">
                <a:solidFill>
                  <a:srgbClr val="15110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IL BIG MATCH È APERTO</a:t>
            </a:r>
            <a:endParaRPr lang="en-US" sz="6600" dirty="0"/>
          </a:p>
        </p:txBody>
      </p:sp>
      <p:sp>
        <p:nvSpPr>
          <p:cNvPr id="36" name="Text 34"/>
          <p:cNvSpPr/>
          <p:nvPr/>
        </p:nvSpPr>
        <p:spPr>
          <a:xfrm>
            <a:off x="12153900" y="3815581"/>
            <a:ext cx="59512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2A1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Milan–Inter. 48.219 pronostici inviati.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11811000" y="4682356"/>
            <a:ext cx="6096000" cy="2368823"/>
          </a:xfrm>
          <a:prstGeom prst="roundRect">
            <a:avLst>
              <a:gd name="adj" fmla="val 3217"/>
            </a:avLst>
          </a:prstGeom>
          <a:solidFill>
            <a:srgbClr val="2B2320"/>
          </a:solidFill>
          <a:ln/>
        </p:spPr>
      </p:sp>
      <p:sp>
        <p:nvSpPr>
          <p:cNvPr id="38" name="Text 36"/>
          <p:cNvSpPr/>
          <p:nvPr/>
        </p:nvSpPr>
        <p:spPr>
          <a:xfrm>
            <a:off x="12115800" y="4987156"/>
            <a:ext cx="196035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9B8F85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LA TUA STAGIONE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6372954" y="5001444"/>
            <a:ext cx="135217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F5B1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#312 / 48.219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2115800" y="5553894"/>
            <a:ext cx="1871953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92"/>
              </a:lnSpc>
              <a:buNone/>
            </a:pPr>
            <a:r>
              <a:rPr lang="en-US" sz="5100" dirty="0">
                <a:solidFill>
                  <a:srgbClr val="F4E3C8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68%</a:t>
            </a:r>
            <a:endParaRPr lang="en-US" sz="5100" dirty="0"/>
          </a:p>
        </p:txBody>
      </p:sp>
      <p:sp>
        <p:nvSpPr>
          <p:cNvPr id="41" name="Text 39"/>
          <p:cNvSpPr/>
          <p:nvPr/>
        </p:nvSpPr>
        <p:spPr>
          <a:xfrm>
            <a:off x="12115800" y="6136779"/>
            <a:ext cx="187195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9B8F8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PRECISIONE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4008075" y="5553894"/>
            <a:ext cx="1871953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92"/>
              </a:lnSpc>
              <a:buNone/>
            </a:pPr>
            <a:r>
              <a:rPr lang="en-US" sz="5100" dirty="0">
                <a:solidFill>
                  <a:srgbClr val="EF5B12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</a:t>
            </a:r>
            <a:endParaRPr lang="en-US" sz="5100" dirty="0"/>
          </a:p>
        </p:txBody>
      </p:sp>
      <p:sp>
        <p:nvSpPr>
          <p:cNvPr id="43" name="Text 41"/>
          <p:cNvSpPr/>
          <p:nvPr/>
        </p:nvSpPr>
        <p:spPr>
          <a:xfrm>
            <a:off x="14008075" y="6136779"/>
            <a:ext cx="187195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9B8F8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SERIE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5900350" y="5553894"/>
            <a:ext cx="1872035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92"/>
              </a:lnSpc>
              <a:buNone/>
            </a:pPr>
            <a:r>
              <a:rPr lang="en-US" sz="5100" dirty="0">
                <a:solidFill>
                  <a:srgbClr val="F4E3C8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1.240</a:t>
            </a:r>
            <a:endParaRPr lang="en-US" sz="5100" dirty="0"/>
          </a:p>
        </p:txBody>
      </p:sp>
      <p:sp>
        <p:nvSpPr>
          <p:cNvPr id="45" name="Text 43"/>
          <p:cNvSpPr/>
          <p:nvPr/>
        </p:nvSpPr>
        <p:spPr>
          <a:xfrm>
            <a:off x="15900350" y="6136779"/>
            <a:ext cx="18720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9B8F8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PUNTI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12115800" y="6632079"/>
            <a:ext cx="5486400" cy="114300"/>
          </a:xfrm>
          <a:prstGeom prst="rect">
            <a:avLst/>
          </a:prstGeom>
          <a:solidFill>
            <a:srgbClr val="443933"/>
          </a:solidFill>
          <a:ln/>
        </p:spPr>
      </p:sp>
      <p:sp>
        <p:nvSpPr>
          <p:cNvPr id="47" name="Shape 45"/>
          <p:cNvSpPr/>
          <p:nvPr/>
        </p:nvSpPr>
        <p:spPr>
          <a:xfrm>
            <a:off x="12115800" y="6632079"/>
            <a:ext cx="3730749" cy="114300"/>
          </a:xfrm>
          <a:prstGeom prst="rect">
            <a:avLst/>
          </a:prstGeom>
          <a:solidFill>
            <a:srgbClr val="EF5B12"/>
          </a:solidFill>
          <a:ln/>
        </p:spPr>
      </p:sp>
      <p:sp>
        <p:nvSpPr>
          <p:cNvPr id="48" name="Shape 46"/>
          <p:cNvSpPr/>
          <p:nvPr/>
        </p:nvSpPr>
        <p:spPr>
          <a:xfrm>
            <a:off x="11811000" y="7279779"/>
            <a:ext cx="6096000" cy="990600"/>
          </a:xfrm>
          <a:prstGeom prst="roundRect">
            <a:avLst>
              <a:gd name="adj" fmla="val 7692"/>
            </a:avLst>
          </a:prstGeom>
          <a:solidFill>
            <a:srgbClr val="F4E3C8"/>
          </a:solidFill>
          <a:ln/>
        </p:spPr>
      </p:sp>
      <p:sp>
        <p:nvSpPr>
          <p:cNvPr id="49" name="Text 47"/>
          <p:cNvSpPr/>
          <p:nvPr/>
        </p:nvSpPr>
        <p:spPr>
          <a:xfrm>
            <a:off x="11986260" y="7546479"/>
            <a:ext cx="57454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spc="180" kern="0" dirty="0">
                <a:solidFill>
                  <a:srgbClr val="15110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CONFERMA PRONOSTICO</a:t>
            </a:r>
            <a:endParaRPr lang="en-US" sz="3000" dirty="0"/>
          </a:p>
        </p:txBody>
      </p:sp>
      <p:sp>
        <p:nvSpPr>
          <p:cNvPr id="50" name="Shape 48"/>
          <p:cNvSpPr/>
          <p:nvPr/>
        </p:nvSpPr>
        <p:spPr>
          <a:xfrm>
            <a:off x="11544300" y="8537079"/>
            <a:ext cx="6629400" cy="19050"/>
          </a:xfrm>
          <a:prstGeom prst="rect">
            <a:avLst/>
          </a:prstGeom>
          <a:solidFill>
            <a:srgbClr val="2B2320"/>
          </a:solidFill>
          <a:ln/>
        </p:spPr>
      </p:sp>
      <p:sp>
        <p:nvSpPr>
          <p:cNvPr id="51" name="Shape 49"/>
          <p:cNvSpPr/>
          <p:nvPr/>
        </p:nvSpPr>
        <p:spPr>
          <a:xfrm>
            <a:off x="12420600" y="8784729"/>
            <a:ext cx="304800" cy="304800"/>
          </a:xfrm>
          <a:prstGeom prst="rect">
            <a:avLst/>
          </a:prstGeom>
          <a:solidFill>
            <a:srgbClr val="EF5B12"/>
          </a:solidFill>
          <a:ln/>
        </p:spPr>
      </p:sp>
      <p:sp>
        <p:nvSpPr>
          <p:cNvPr id="52" name="Text 50"/>
          <p:cNvSpPr/>
          <p:nvPr/>
        </p:nvSpPr>
        <p:spPr>
          <a:xfrm>
            <a:off x="12346335" y="9203829"/>
            <a:ext cx="45325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5B1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Oggi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13906500" y="8784729"/>
            <a:ext cx="381000" cy="381000"/>
          </a:xfrm>
          <a:prstGeom prst="rect">
            <a:avLst/>
          </a:prstGeom>
          <a:ln w="38100">
            <a:solidFill>
              <a:srgbClr val="6B5D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801576" y="9280029"/>
            <a:ext cx="5907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B8F8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Leghe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15430500" y="8784729"/>
            <a:ext cx="381000" cy="381000"/>
          </a:xfrm>
          <a:prstGeom prst="ellipse">
            <a:avLst/>
          </a:prstGeom>
          <a:ln w="38100">
            <a:solidFill>
              <a:srgbClr val="6B5D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5183445" y="9280029"/>
            <a:ext cx="8750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B8F8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Classifica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16992600" y="8784729"/>
            <a:ext cx="304800" cy="304800"/>
          </a:xfrm>
          <a:prstGeom prst="ellipse">
            <a:avLst/>
          </a:prstGeom>
          <a:solidFill>
            <a:srgbClr val="6B5D55"/>
          </a:solidFill>
          <a:ln/>
        </p:spPr>
      </p:sp>
      <p:sp>
        <p:nvSpPr>
          <p:cNvPr id="58" name="Text 56"/>
          <p:cNvSpPr/>
          <p:nvPr/>
        </p:nvSpPr>
        <p:spPr>
          <a:xfrm>
            <a:off x="16832238" y="9203829"/>
            <a:ext cx="6254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B8F8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Profilo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10512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8A888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CONFRONTO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1376363"/>
            <a:ext cx="1810512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765"/>
              </a:lnSpc>
              <a:buNone/>
            </a:pPr>
            <a:r>
              <a:rPr lang="en-US" sz="5850" b="1" spc="-175" kern="0" dirty="0">
                <a:solidFill>
                  <a:srgbClr val="17171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Sette direzioni, un solo passo successivo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914400" y="2652713"/>
            <a:ext cx="723900" cy="4476750"/>
          </a:xfrm>
          <a:prstGeom prst="rect">
            <a:avLst/>
          </a:prstGeom>
          <a:solidFill>
            <a:srgbClr val="0E1B47"/>
          </a:solidFill>
          <a:ln/>
        </p:spPr>
      </p:sp>
      <p:sp>
        <p:nvSpPr>
          <p:cNvPr id="5" name="Shape 3"/>
          <p:cNvSpPr/>
          <p:nvPr/>
        </p:nvSpPr>
        <p:spPr>
          <a:xfrm>
            <a:off x="1638300" y="2652713"/>
            <a:ext cx="723900" cy="4476750"/>
          </a:xfrm>
          <a:prstGeom prst="rect">
            <a:avLst/>
          </a:prstGeom>
          <a:solidFill>
            <a:srgbClr val="2E5BE8"/>
          </a:solidFill>
          <a:ln/>
        </p:spPr>
      </p:sp>
      <p:sp>
        <p:nvSpPr>
          <p:cNvPr id="6" name="Shape 4"/>
          <p:cNvSpPr/>
          <p:nvPr/>
        </p:nvSpPr>
        <p:spPr>
          <a:xfrm>
            <a:off x="2362200" y="2652713"/>
            <a:ext cx="723900" cy="4476750"/>
          </a:xfrm>
          <a:prstGeom prst="rect">
            <a:avLst/>
          </a:prstGeom>
          <a:solidFill>
            <a:srgbClr val="FFC93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7362825"/>
            <a:ext cx="286122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88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19572" y="7300913"/>
            <a:ext cx="121466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-45" kern="0" dirty="0">
                <a:solidFill>
                  <a:srgbClr val="17171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Tribuna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14400" y="7786688"/>
            <a:ext cx="224790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333"/>
              </a:lnSpc>
              <a:buNone/>
            </a:pPr>
            <a:r>
              <a:rPr lang="en-US" sz="1650" dirty="0">
                <a:solidFill>
                  <a:srgbClr val="55534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affidabile · luminosa · giovanile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8544818"/>
            <a:ext cx="23888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0E1B4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Sora + Manrope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3295650" y="2652713"/>
            <a:ext cx="723900" cy="4476750"/>
          </a:xfrm>
          <a:prstGeom prst="rect">
            <a:avLst/>
          </a:prstGeom>
          <a:solidFill>
            <a:srgbClr val="1B36D8"/>
          </a:solidFill>
          <a:ln/>
        </p:spPr>
      </p:sp>
      <p:sp>
        <p:nvSpPr>
          <p:cNvPr id="12" name="Shape 10"/>
          <p:cNvSpPr/>
          <p:nvPr/>
        </p:nvSpPr>
        <p:spPr>
          <a:xfrm>
            <a:off x="4019550" y="2652713"/>
            <a:ext cx="723900" cy="4476750"/>
          </a:xfrm>
          <a:prstGeom prst="rect">
            <a:avLst/>
          </a:prstGeom>
          <a:solidFill>
            <a:srgbClr val="0A1330"/>
          </a:solidFill>
          <a:ln/>
        </p:spPr>
      </p:sp>
      <p:sp>
        <p:nvSpPr>
          <p:cNvPr id="13" name="Shape 11"/>
          <p:cNvSpPr/>
          <p:nvPr/>
        </p:nvSpPr>
        <p:spPr>
          <a:xfrm>
            <a:off x="4743450" y="2652713"/>
            <a:ext cx="723900" cy="4476750"/>
          </a:xfrm>
          <a:prstGeom prst="rect">
            <a:avLst/>
          </a:prstGeom>
          <a:solidFill>
            <a:srgbClr val="F2E63A"/>
          </a:solidFill>
          <a:ln/>
        </p:spPr>
      </p:sp>
      <p:sp>
        <p:nvSpPr>
          <p:cNvPr id="14" name="Text 12"/>
          <p:cNvSpPr/>
          <p:nvPr/>
        </p:nvSpPr>
        <p:spPr>
          <a:xfrm>
            <a:off x="3295650" y="7362825"/>
            <a:ext cx="286122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88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2b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00822" y="7300913"/>
            <a:ext cx="166567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-45" kern="0" dirty="0">
                <a:solidFill>
                  <a:srgbClr val="17171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Prima Fila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3295650" y="7786688"/>
            <a:ext cx="224790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333"/>
              </a:lnSpc>
              <a:buNone/>
            </a:pPr>
            <a:r>
              <a:rPr lang="en-US" sz="1650" dirty="0">
                <a:solidFill>
                  <a:srgbClr val="55534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energica · sportiva · diretta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295650" y="8544818"/>
            <a:ext cx="23888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1B36D8"/>
                </a:solidFill>
                <a:latin typeface="Chivo" pitchFamily="34" charset="0"/>
                <a:ea typeface="Chivo" pitchFamily="34" charset="-122"/>
                <a:cs typeface="Chivo" pitchFamily="34" charset="-120"/>
              </a:rPr>
              <a:t>Chivo + Figtree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676900" y="2652713"/>
            <a:ext cx="723900" cy="4476750"/>
          </a:xfrm>
          <a:prstGeom prst="rect">
            <a:avLst/>
          </a:prstGeom>
          <a:solidFill>
            <a:srgbClr val="101A33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2652713"/>
            <a:ext cx="723900" cy="4476750"/>
          </a:xfrm>
          <a:prstGeom prst="rect">
            <a:avLst/>
          </a:prstGeom>
          <a:solidFill>
            <a:srgbClr val="23366B"/>
          </a:solidFill>
          <a:ln/>
        </p:spPr>
      </p:sp>
      <p:sp>
        <p:nvSpPr>
          <p:cNvPr id="20" name="Shape 18"/>
          <p:cNvSpPr/>
          <p:nvPr/>
        </p:nvSpPr>
        <p:spPr>
          <a:xfrm>
            <a:off x="7124700" y="2652713"/>
            <a:ext cx="723900" cy="4476750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21" name="Text 19"/>
          <p:cNvSpPr/>
          <p:nvPr/>
        </p:nvSpPr>
        <p:spPr>
          <a:xfrm>
            <a:off x="5676900" y="7362825"/>
            <a:ext cx="286122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88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982072" y="7300913"/>
            <a:ext cx="148461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-45" kern="0" dirty="0">
                <a:solidFill>
                  <a:srgbClr val="17171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Notturna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5676900" y="7786688"/>
            <a:ext cx="224790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333"/>
              </a:lnSpc>
              <a:buNone/>
            </a:pPr>
            <a:r>
              <a:rPr lang="en-US" sz="1650" dirty="0">
                <a:solidFill>
                  <a:srgbClr val="55534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elettrica · notturna · competitiva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676900" y="8544818"/>
            <a:ext cx="23888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-33" kern="0" dirty="0">
                <a:solidFill>
                  <a:srgbClr val="101A3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Archivo Black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8058150" y="2652713"/>
            <a:ext cx="723900" cy="4476750"/>
          </a:xfrm>
          <a:prstGeom prst="rect">
            <a:avLst/>
          </a:prstGeom>
          <a:solidFill>
            <a:srgbClr val="EEF2FA"/>
          </a:solidFill>
          <a:ln/>
        </p:spPr>
      </p:sp>
      <p:sp>
        <p:nvSpPr>
          <p:cNvPr id="26" name="Shape 24"/>
          <p:cNvSpPr/>
          <p:nvPr/>
        </p:nvSpPr>
        <p:spPr>
          <a:xfrm>
            <a:off x="8782050" y="2652713"/>
            <a:ext cx="723900" cy="4476750"/>
          </a:xfrm>
          <a:prstGeom prst="rect">
            <a:avLst/>
          </a:prstGeom>
          <a:solidFill>
            <a:srgbClr val="101A33"/>
          </a:solidFill>
          <a:ln/>
        </p:spPr>
      </p:sp>
      <p:sp>
        <p:nvSpPr>
          <p:cNvPr id="27" name="Shape 25"/>
          <p:cNvSpPr/>
          <p:nvPr/>
        </p:nvSpPr>
        <p:spPr>
          <a:xfrm>
            <a:off x="9505950" y="2652713"/>
            <a:ext cx="723900" cy="4476750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28" name="Text 26"/>
          <p:cNvSpPr/>
          <p:nvPr/>
        </p:nvSpPr>
        <p:spPr>
          <a:xfrm>
            <a:off x="8058150" y="7329488"/>
            <a:ext cx="286122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88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3a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363322" y="7300913"/>
            <a:ext cx="1942728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-39" kern="0" dirty="0">
                <a:solidFill>
                  <a:srgbClr val="17171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Notturna Giorno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8058150" y="8015288"/>
            <a:ext cx="224790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333"/>
              </a:lnSpc>
              <a:buNone/>
            </a:pPr>
            <a:r>
              <a:rPr lang="en-US" sz="1650" dirty="0">
                <a:solidFill>
                  <a:srgbClr val="55534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chiara · nitida · competitiva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8058150" y="8773418"/>
            <a:ext cx="23888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-33" kern="0" dirty="0">
                <a:solidFill>
                  <a:srgbClr val="101A33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Archivo Black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0439400" y="2652713"/>
            <a:ext cx="723900" cy="4476750"/>
          </a:xfrm>
          <a:prstGeom prst="rect">
            <a:avLst/>
          </a:prstGeom>
          <a:solidFill>
            <a:srgbClr val="123B2E"/>
          </a:solidFill>
          <a:ln/>
        </p:spPr>
      </p:sp>
      <p:sp>
        <p:nvSpPr>
          <p:cNvPr id="33" name="Shape 31"/>
          <p:cNvSpPr/>
          <p:nvPr/>
        </p:nvSpPr>
        <p:spPr>
          <a:xfrm>
            <a:off x="11163300" y="2652713"/>
            <a:ext cx="723900" cy="4476750"/>
          </a:xfrm>
          <a:prstGeom prst="rect">
            <a:avLst/>
          </a:prstGeom>
          <a:solidFill>
            <a:srgbClr val="E4DCC8"/>
          </a:solidFill>
          <a:ln/>
        </p:spPr>
      </p:sp>
      <p:sp>
        <p:nvSpPr>
          <p:cNvPr id="34" name="Shape 32"/>
          <p:cNvSpPr/>
          <p:nvPr/>
        </p:nvSpPr>
        <p:spPr>
          <a:xfrm>
            <a:off x="11887200" y="2652713"/>
            <a:ext cx="723900" cy="4476750"/>
          </a:xfrm>
          <a:prstGeom prst="rect">
            <a:avLst/>
          </a:prstGeom>
          <a:solidFill>
            <a:srgbClr val="C43B22"/>
          </a:solidFill>
          <a:ln/>
        </p:spPr>
      </p:sp>
      <p:sp>
        <p:nvSpPr>
          <p:cNvPr id="35" name="Text 33"/>
          <p:cNvSpPr/>
          <p:nvPr/>
        </p:nvSpPr>
        <p:spPr>
          <a:xfrm>
            <a:off x="10439400" y="7362825"/>
            <a:ext cx="286122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88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1b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0744572" y="7300913"/>
            <a:ext cx="15198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-45" kern="0" dirty="0">
                <a:solidFill>
                  <a:srgbClr val="17171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Tabellino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10439400" y="7786688"/>
            <a:ext cx="224790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333"/>
              </a:lnSpc>
              <a:buNone/>
            </a:pPr>
            <a:r>
              <a:rPr lang="en-US" sz="1650" dirty="0">
                <a:solidFill>
                  <a:srgbClr val="55534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autorevole · calda · sobria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0439400" y="8544818"/>
            <a:ext cx="238887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3B2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Instrument + Work Sans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12820650" y="2652713"/>
            <a:ext cx="723900" cy="4476750"/>
          </a:xfrm>
          <a:prstGeom prst="rect">
            <a:avLst/>
          </a:prstGeom>
          <a:solidFill>
            <a:srgbClr val="0B39FF"/>
          </a:solidFill>
          <a:ln/>
        </p:spPr>
      </p:sp>
      <p:sp>
        <p:nvSpPr>
          <p:cNvPr id="40" name="Shape 38"/>
          <p:cNvSpPr/>
          <p:nvPr/>
        </p:nvSpPr>
        <p:spPr>
          <a:xfrm>
            <a:off x="13544550" y="2652713"/>
            <a:ext cx="723900" cy="4476750"/>
          </a:xfrm>
          <a:prstGeom prst="rect">
            <a:avLst/>
          </a:prstGeom>
          <a:solidFill>
            <a:srgbClr val="0B0B12"/>
          </a:solidFill>
          <a:ln/>
        </p:spPr>
      </p:sp>
      <p:sp>
        <p:nvSpPr>
          <p:cNvPr id="41" name="Shape 39"/>
          <p:cNvSpPr/>
          <p:nvPr/>
        </p:nvSpPr>
        <p:spPr>
          <a:xfrm>
            <a:off x="14268450" y="2652713"/>
            <a:ext cx="723900" cy="4476750"/>
          </a:xfrm>
          <a:prstGeom prst="rect">
            <a:avLst/>
          </a:prstGeom>
          <a:solidFill>
            <a:srgbClr val="FF2E6B"/>
          </a:solidFill>
          <a:ln/>
        </p:spPr>
      </p:sp>
      <p:sp>
        <p:nvSpPr>
          <p:cNvPr id="42" name="Text 40"/>
          <p:cNvSpPr/>
          <p:nvPr/>
        </p:nvSpPr>
        <p:spPr>
          <a:xfrm>
            <a:off x="12820650" y="7362825"/>
            <a:ext cx="286122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88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1c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3125822" y="7300913"/>
            <a:ext cx="11200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-45" kern="0" dirty="0">
                <a:solidFill>
                  <a:srgbClr val="17171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Diretta</a:t>
            </a:r>
            <a:endParaRPr lang="en-US" sz="2250" dirty="0"/>
          </a:p>
        </p:txBody>
      </p:sp>
      <p:sp>
        <p:nvSpPr>
          <p:cNvPr id="44" name="Text 42"/>
          <p:cNvSpPr/>
          <p:nvPr/>
        </p:nvSpPr>
        <p:spPr>
          <a:xfrm>
            <a:off x="12820650" y="7786688"/>
            <a:ext cx="238887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333"/>
              </a:lnSpc>
              <a:buNone/>
            </a:pPr>
            <a:r>
              <a:rPr lang="en-US" sz="1650" dirty="0">
                <a:solidFill>
                  <a:srgbClr val="55534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nitida · tecnica · veloce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2820650" y="8251478"/>
            <a:ext cx="23888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0B3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Space Grotesk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5201900" y="2652713"/>
            <a:ext cx="723900" cy="4476750"/>
          </a:xfrm>
          <a:prstGeom prst="rect">
            <a:avLst/>
          </a:prstGeom>
          <a:solidFill>
            <a:srgbClr val="EF5B12"/>
          </a:solidFill>
          <a:ln/>
        </p:spPr>
      </p:sp>
      <p:sp>
        <p:nvSpPr>
          <p:cNvPr id="47" name="Shape 45"/>
          <p:cNvSpPr/>
          <p:nvPr/>
        </p:nvSpPr>
        <p:spPr>
          <a:xfrm>
            <a:off x="15925800" y="2652713"/>
            <a:ext cx="723900" cy="4476750"/>
          </a:xfrm>
          <a:prstGeom prst="rect">
            <a:avLst/>
          </a:prstGeom>
          <a:solidFill>
            <a:srgbClr val="2B2320"/>
          </a:solidFill>
          <a:ln/>
        </p:spPr>
      </p:sp>
      <p:sp>
        <p:nvSpPr>
          <p:cNvPr id="48" name="Shape 46"/>
          <p:cNvSpPr/>
          <p:nvPr/>
        </p:nvSpPr>
        <p:spPr>
          <a:xfrm>
            <a:off x="16649700" y="2652713"/>
            <a:ext cx="723900" cy="4476750"/>
          </a:xfrm>
          <a:prstGeom prst="rect">
            <a:avLst/>
          </a:prstGeom>
          <a:solidFill>
            <a:srgbClr val="F4E3C8"/>
          </a:solidFill>
          <a:ln/>
        </p:spPr>
      </p:sp>
      <p:sp>
        <p:nvSpPr>
          <p:cNvPr id="49" name="Text 47"/>
          <p:cNvSpPr/>
          <p:nvPr/>
        </p:nvSpPr>
        <p:spPr>
          <a:xfrm>
            <a:off x="15201900" y="7362825"/>
            <a:ext cx="286122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88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1d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15507072" y="7300913"/>
            <a:ext cx="9691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-45" kern="0" dirty="0">
                <a:solidFill>
                  <a:srgbClr val="17171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Curva</a:t>
            </a:r>
            <a:endParaRPr lang="en-US" sz="2250" dirty="0"/>
          </a:p>
        </p:txBody>
      </p:sp>
      <p:sp>
        <p:nvSpPr>
          <p:cNvPr id="51" name="Text 49"/>
          <p:cNvSpPr/>
          <p:nvPr/>
        </p:nvSpPr>
        <p:spPr>
          <a:xfrm>
            <a:off x="15201900" y="7786688"/>
            <a:ext cx="224790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333"/>
              </a:lnSpc>
              <a:buNone/>
            </a:pPr>
            <a:r>
              <a:rPr lang="en-US" sz="1650" dirty="0">
                <a:solidFill>
                  <a:srgbClr val="55534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viscerale · popolare · rumorosa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15201900" y="8544818"/>
            <a:ext cx="238887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84" kern="0" dirty="0">
                <a:solidFill>
                  <a:srgbClr val="EF5B12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BEBAS + BARLOW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2026-08-30T23:24:40Z</dcterms:created>
  <dcterms:modified xsi:type="dcterms:W3CDTF">2026-08-30T23:24:40Z</dcterms:modified>
</cp:coreProperties>
</file>